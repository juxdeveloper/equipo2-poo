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2-1.jpg" ContentType="image/jpg"/>
  <Override PartName="/ppt/media/image-2-2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6-3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media/image-9-2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6"/>
    <p:sldId id="266" r:id="rId17"/>
    <p:sldId id="267" r:id="rId18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2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Presentar el simulador hospitalario de la etapa 2. Explicar que el programa conserva las restricciones de la primera etapa y utiliza un menú interactivo.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Crear hospital, registrar especialidades con ID y luego personal y pacientes. H cambia hospital; P cambia paciente; D crea una demo independiente. En cada captura 0 cancela sin guardar; Enter vuelve al menú y limpia la pantalla.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Paciente, Medico y Enfermero son abstractas. Las seis subclases tienen datos propios. Los jefes están en la lista de Enfermero pero su tratamiento directo devuelve false. AtencionMedica también se entrega como JAR independiente.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las sobrecargas de Sistema y la sobrescritura de getEspecialidad, buscarMedico y darConsulta. Una referencia AtencionMedica permite invocar darTratamiento. Las cédulas y especialidades del personal no tienen setter. Las colecciones se exponen sin permitir cambios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 médico conserva hasta diez pacientes y solo uno en consulta. Un paciente que no puede pasar a enfermería conserva su consulta activa y su asignación.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enfermero especialista recibe solo pacientes de su ID, incluido ID 1 de medicina general. El turno se almacena como boolean: false matutino, true vespertino. Si se requiere medicamento, el enfermero pide autorización a un jefe del área.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booleano necesitaMedicamento se sortea con Math.random() &lt; 0.5 al construir el paciente. La autorización se guarda por separado. En las pruebas se fija el requerimiento antes de consulta para verificar ambos caminos.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Sistema mantiene un Map por hospital, listas polimórficas y contadores de registros. La asignación respeta el tipo de atención, el cupo y las consultas activas.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Cerrar con los tres conceptos del parcial y la demostración de supervisión. Los entregables contienen código, compilados, dos JAR, Javadoc, UML, flujos, pseudocódigos y reporte.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Seleccionar un jefe en opciones 15 a 18. Su equipo incluye solo EnfermeroEspecialista de la misma área y hospital: no se cuenta a sí mismo ni incluye otros jefes. Se permiten dos supervisores por especialidad. Los traslados validan todo antes de cambiar las listas.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ID es una clave real del Map, no una posición de lista. La demo incluye 1, 2 y 7 para demostrar IDs no consecutivos. En toda selección se muestra el catálogo numerado; cero cancela.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Ejecutar ./compilar.sh y observar las 74 comprobaciones. Abrir el JAR y usar D, 6, 7, 14, 16 y 17. Mostrar el turno y enfermero antes y después. La necesidad de medicamento puede variar pero el supervisor aprueba toda solicitud válida. Mostrar lib/atencion-medica.jar como extra.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5" Type="http://schemas.openxmlformats.org/officeDocument/2006/relationships/image" Target="../media/image2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Relationship Id="rId7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jp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Relationship Id="rId7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Relationship Id="rId7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Relationship Id="rId7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jp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7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gent-tmp/pres-assets/backgrou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" y="228600"/>
            <a:ext cx="11731752" cy="6400800"/>
          </a:xfrm>
          <a:prstGeom prst="roundRect">
            <a:avLst>
              <a:gd name="adj" fmla="val 2286"/>
            </a:avLst>
          </a:prstGeom>
          <a:solidFill>
            <a:srgbClr val="FFFFFF">
              <a:alpha val="89000"/>
            </a:srgbClr>
          </a:solidFill>
          <a:ln w="1524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561320" y="-411480"/>
            <a:ext cx="2011680" cy="2011680"/>
          </a:xfrm>
          <a:prstGeom prst="ellipse">
            <a:avLst/>
          </a:prstGeom>
          <a:solidFill>
            <a:srgbClr val="B68ABF">
              <a:alpha val="72000"/>
            </a:srgbClr>
          </a:solidFill>
          <a:ln w="12700">
            <a:solidFill>
              <a:srgbClr val="B68AB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012680" y="5303520"/>
            <a:ext cx="2377440" cy="2377440"/>
          </a:xfrm>
          <a:prstGeom prst="ellipse">
            <a:avLst/>
          </a:prstGeom>
          <a:solidFill>
            <a:srgbClr val="C4D8E9">
              <a:alpha val="58000"/>
            </a:srgbClr>
          </a:solidFill>
          <a:ln w="12700">
            <a:solidFill>
              <a:srgbClr val="C4D8E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156448" y="941832"/>
            <a:ext cx="2880360" cy="2880360"/>
          </a:xfrm>
          <a:prstGeom prst="ellipse">
            <a:avLst/>
          </a:prstGeom>
          <a:solidFill>
            <a:srgbClr val="C4D8E9">
              <a:alpha val="65000"/>
            </a:srgbClr>
          </a:solidFill>
          <a:ln w="15240">
            <a:solidFill>
              <a:srgbClr val="5666B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394192" y="1188720"/>
            <a:ext cx="2395728" cy="2395728"/>
          </a:xfrm>
          <a:prstGeom prst="ellipse">
            <a:avLst/>
          </a:prstGeom>
          <a:solidFill>
            <a:srgbClr val="FFFFFF">
              <a:alpha val="0"/>
            </a:srgbClr>
          </a:solidFill>
          <a:ln w="17780">
            <a:solidFill>
              <a:srgbClr val="5666B5"/>
            </a:solidFill>
            <a:prstDash val="solid"/>
          </a:ln>
        </p:spPr>
      </p:sp>
      <p:pic>
        <p:nvPicPr>
          <p:cNvPr id="8" name="Image 1" descr="/tmp/agent-tmp/pres-assets/hospital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496" y="1335024"/>
            <a:ext cx="2103120" cy="21031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726680" y="603504"/>
            <a:ext cx="402336" cy="402336"/>
          </a:xfrm>
          <a:prstGeom prst="ellipse">
            <a:avLst/>
          </a:prstGeom>
          <a:solidFill>
            <a:srgbClr val="B68ABF"/>
          </a:solidFill>
          <a:ln w="15240">
            <a:solidFill>
              <a:srgbClr val="B68AB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1109960" y="4334256"/>
            <a:ext cx="274320" cy="274320"/>
          </a:xfrm>
          <a:prstGeom prst="ellipse">
            <a:avLst/>
          </a:prstGeom>
          <a:solidFill>
            <a:srgbClr val="B62D92"/>
          </a:solidFill>
          <a:ln w="15240">
            <a:solidFill>
              <a:srgbClr val="B62D9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86384" y="84124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3F4D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PROYECTO</a:t>
            </a:r>
            <a:endParaRPr lang="en-US" sz="3100" dirty="0"/>
          </a:p>
        </p:txBody>
      </p:sp>
      <p:sp>
        <p:nvSpPr>
          <p:cNvPr id="12" name="Text 8"/>
          <p:cNvSpPr/>
          <p:nvPr/>
        </p:nvSpPr>
        <p:spPr>
          <a:xfrm>
            <a:off x="786384" y="1298448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B62D9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PARTE 2</a:t>
            </a:r>
            <a:endParaRPr lang="en-US" sz="2700" dirty="0"/>
          </a:p>
        </p:txBody>
      </p:sp>
      <p:sp>
        <p:nvSpPr>
          <p:cNvPr id="13" name="Text 9"/>
          <p:cNvSpPr/>
          <p:nvPr/>
        </p:nvSpPr>
        <p:spPr>
          <a:xfrm>
            <a:off x="786384" y="22128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F4D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SISTEMA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786384" y="2743200"/>
            <a:ext cx="4754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62D9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HOSPITALARIO</a:t>
            </a:r>
            <a:endParaRPr lang="en-US" sz="3200" dirty="0"/>
          </a:p>
        </p:txBody>
      </p:sp>
      <p:sp>
        <p:nvSpPr>
          <p:cNvPr id="15" name="Shape 11"/>
          <p:cNvSpPr/>
          <p:nvPr/>
        </p:nvSpPr>
        <p:spPr>
          <a:xfrm>
            <a:off x="786384" y="5349240"/>
            <a:ext cx="1920240" cy="292608"/>
          </a:xfrm>
          <a:prstGeom prst="roundRect">
            <a:avLst>
              <a:gd name="adj" fmla="val 46875"/>
            </a:avLst>
          </a:prstGeom>
          <a:solidFill>
            <a:srgbClr val="3F4D9B"/>
          </a:solidFill>
          <a:ln w="15240">
            <a:solidFill>
              <a:srgbClr val="3F4D9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32688" y="5440680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2  ·  POO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04672" y="592531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7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Autónoma de México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gent-tmp/pres-assets/backgrou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" y="228600"/>
            <a:ext cx="11731752" cy="6400800"/>
          </a:xfrm>
          <a:prstGeom prst="roundRect">
            <a:avLst>
              <a:gd name="adj" fmla="val 2286"/>
            </a:avLst>
          </a:prstGeom>
          <a:solidFill>
            <a:srgbClr val="FFFFFF">
              <a:alpha val="89000"/>
            </a:srgbClr>
          </a:solidFill>
          <a:ln w="1524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561320" y="-411480"/>
            <a:ext cx="2011680" cy="2011680"/>
          </a:xfrm>
          <a:prstGeom prst="ellipse">
            <a:avLst/>
          </a:prstGeom>
          <a:solidFill>
            <a:srgbClr val="B68ABF">
              <a:alpha val="72000"/>
            </a:srgbClr>
          </a:solidFill>
          <a:ln w="12700">
            <a:solidFill>
              <a:srgbClr val="B68AB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012680" y="5303520"/>
            <a:ext cx="2377440" cy="2377440"/>
          </a:xfrm>
          <a:prstGeom prst="ellipse">
            <a:avLst/>
          </a:prstGeom>
          <a:solidFill>
            <a:srgbClr val="C4D8E9">
              <a:alpha val="58000"/>
            </a:srgbClr>
          </a:solidFill>
          <a:ln w="12700">
            <a:solidFill>
              <a:srgbClr val="C4D8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43891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spc="20" kern="0" dirty="0">
                <a:solidFill>
                  <a:srgbClr val="3F4D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MAIN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94944" y="8961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62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Menú con hospital y paciente activos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91072" y="5303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manual o demo; cada opción se puede activar desde consola.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" y="1353312"/>
            <a:ext cx="4343400" cy="4343400"/>
          </a:xfrm>
          <a:prstGeom prst="ellipse">
            <a:avLst/>
          </a:prstGeom>
          <a:solidFill>
            <a:srgbClr val="D7C9DF">
              <a:alpha val="96000"/>
            </a:srgbClr>
          </a:solidFill>
          <a:ln w="12700">
            <a:solidFill>
              <a:srgbClr val="D7C9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3000" y="17007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62D9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Flujo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1170432" y="2331720"/>
            <a:ext cx="109728" cy="109728"/>
          </a:xfrm>
          <a:prstGeom prst="ellipse">
            <a:avLst/>
          </a:prstGeom>
          <a:solidFill>
            <a:srgbClr val="B62D92"/>
          </a:solidFill>
          <a:ln w="15240">
            <a:solidFill>
              <a:srgbClr val="B62D9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0" y="22677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Crear hospital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170432" y="2743200"/>
            <a:ext cx="109728" cy="109728"/>
          </a:xfrm>
          <a:prstGeom prst="ellipse">
            <a:avLst/>
          </a:prstGeom>
          <a:solidFill>
            <a:srgbClr val="B62D92"/>
          </a:solidFill>
          <a:ln w="15240">
            <a:solidFill>
              <a:srgbClr val="B62D9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71600" y="267919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Crear especialidades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170432" y="3154680"/>
            <a:ext cx="109728" cy="109728"/>
          </a:xfrm>
          <a:prstGeom prst="ellipse">
            <a:avLst/>
          </a:prstGeom>
          <a:solidFill>
            <a:srgbClr val="B62D92"/>
          </a:solidFill>
          <a:ln w="15240">
            <a:solidFill>
              <a:srgbClr val="B62D9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371600" y="30906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3–5. Registrar personas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170432" y="3566160"/>
            <a:ext cx="109728" cy="109728"/>
          </a:xfrm>
          <a:prstGeom prst="ellipse">
            <a:avLst/>
          </a:prstGeom>
          <a:solidFill>
            <a:srgbClr val="B62D92"/>
          </a:solidFill>
          <a:ln w="15240">
            <a:solidFill>
              <a:srgbClr val="B62D9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71600" y="350215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6–7. Consulta y tratamiento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078992" y="4279392"/>
            <a:ext cx="3017520" cy="420624"/>
          </a:xfrm>
          <a:prstGeom prst="roundRect">
            <a:avLst>
              <a:gd name="adj" fmla="val 43478"/>
            </a:avLst>
          </a:prstGeom>
          <a:solidFill>
            <a:srgbClr val="B68ABF"/>
          </a:solidFill>
          <a:ln w="15240">
            <a:solidFill>
              <a:srgbClr val="B68AB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88720" y="4416552"/>
            <a:ext cx="2788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EN_ESPERA  →  EN_CONSULTA  →  EN_TRATAMIENTO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053328" y="1417320"/>
            <a:ext cx="4901184" cy="4407408"/>
          </a:xfrm>
          <a:prstGeom prst="roundRect">
            <a:avLst>
              <a:gd name="adj" fmla="val 3734"/>
            </a:avLst>
          </a:prstGeom>
          <a:solidFill>
            <a:srgbClr val="FFFFFF"/>
          </a:solidFill>
          <a:ln w="15240">
            <a:solidFill>
              <a:srgbClr val="C4D8E9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309360" y="5138928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62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cancela · Enter vuelve al menú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58368" y="6327648"/>
            <a:ext cx="1417320" cy="256032"/>
          </a:xfrm>
          <a:prstGeom prst="roundRect">
            <a:avLst>
              <a:gd name="adj" fmla="val 42857"/>
            </a:avLst>
          </a:prstGeom>
          <a:solidFill>
            <a:srgbClr val="3F4D9B"/>
          </a:solidFill>
          <a:ln w="12700">
            <a:solidFill>
              <a:srgbClr val="3F4D9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68096" y="638251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900" dirty="0"/>
          </a:p>
        </p:txBody>
      </p:sp>
      <p:pic>
        <p:nvPicPr>
          <p:cNvPr id="26" name="Picture 25" descr="UML_Resumen_Dem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1080" y="1972957"/>
            <a:ext cx="3305680" cy="26011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gent-tmp/pres-assets/backgrou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" y="228600"/>
            <a:ext cx="11731752" cy="6400800"/>
          </a:xfrm>
          <a:prstGeom prst="roundRect">
            <a:avLst>
              <a:gd name="adj" fmla="val 2286"/>
            </a:avLst>
          </a:prstGeom>
          <a:solidFill>
            <a:srgbClr val="FFFFFF">
              <a:alpha val="89000"/>
            </a:srgbClr>
          </a:solidFill>
          <a:ln w="1524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561320" y="-411480"/>
            <a:ext cx="2011680" cy="2011680"/>
          </a:xfrm>
          <a:prstGeom prst="ellipse">
            <a:avLst/>
          </a:prstGeom>
          <a:solidFill>
            <a:srgbClr val="B68ABF">
              <a:alpha val="72000"/>
            </a:srgbClr>
          </a:solidFill>
          <a:ln w="12700">
            <a:solidFill>
              <a:srgbClr val="B68AB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012680" y="5303520"/>
            <a:ext cx="2377440" cy="2377440"/>
          </a:xfrm>
          <a:prstGeom prst="ellipse">
            <a:avLst/>
          </a:prstGeom>
          <a:solidFill>
            <a:srgbClr val="C4D8E9">
              <a:alpha val="58000"/>
            </a:srgbClr>
          </a:solidFill>
          <a:ln w="12700">
            <a:solidFill>
              <a:srgbClr val="C4D8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43891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spc="20" kern="0" dirty="0">
                <a:solidFill>
                  <a:srgbClr val="3F4D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JERARQUÍAS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94944" y="8961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62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familias y una interfaz común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280160" y="1325880"/>
            <a:ext cx="1463040" cy="1463040"/>
          </a:xfrm>
          <a:prstGeom prst="ellipse">
            <a:avLst/>
          </a:prstGeom>
          <a:solidFill>
            <a:srgbClr val="B62D92">
              <a:alpha val="88000"/>
            </a:srgbClr>
          </a:solidFill>
          <a:ln w="15240">
            <a:solidFill>
              <a:srgbClr val="B62D92"/>
            </a:solidFill>
            <a:prstDash val="solid"/>
          </a:ln>
        </p:spPr>
      </p:sp>
      <p:pic>
        <p:nvPicPr>
          <p:cNvPr id="9" name="Image 1" descr="/tmp/agent-tmp/pres-assets/img-0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527048"/>
            <a:ext cx="1097280" cy="10972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" y="2999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62D9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PACIENTE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1005840" y="3529584"/>
            <a:ext cx="2011680" cy="292608"/>
          </a:xfrm>
          <a:prstGeom prst="roundRect">
            <a:avLst>
              <a:gd name="adj" fmla="val 40625"/>
            </a:avLst>
          </a:prstGeom>
          <a:solidFill>
            <a:srgbClr val="B62D92"/>
          </a:solidFill>
          <a:ln w="15240">
            <a:solidFill>
              <a:srgbClr val="B62D9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05840" y="362102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1005840" y="4014216"/>
            <a:ext cx="2011680" cy="292608"/>
          </a:xfrm>
          <a:prstGeom prst="roundRect">
            <a:avLst>
              <a:gd name="adj" fmla="val 40625"/>
            </a:avLst>
          </a:prstGeom>
          <a:solidFill>
            <a:srgbClr val="B62D92"/>
          </a:solidFill>
          <a:ln w="15240">
            <a:solidFill>
              <a:srgbClr val="B62D9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05840" y="4105656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Especialidad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62856" y="1325880"/>
            <a:ext cx="1463040" cy="1463040"/>
          </a:xfrm>
          <a:prstGeom prst="ellipse">
            <a:avLst/>
          </a:prstGeom>
          <a:solidFill>
            <a:srgbClr val="3F4D9B">
              <a:alpha val="88000"/>
            </a:srgbClr>
          </a:solidFill>
          <a:ln w="15240">
            <a:solidFill>
              <a:srgbClr val="3F4D9B"/>
            </a:solidFill>
            <a:prstDash val="solid"/>
          </a:ln>
        </p:spPr>
      </p:sp>
      <p:pic>
        <p:nvPicPr>
          <p:cNvPr id="16" name="Image 2" descr="/tmp/agent-tmp/pres-assets/img-01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941" y="1527048"/>
            <a:ext cx="1050869" cy="10972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087368" y="2999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4D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MÉDICO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4288536" y="3529584"/>
            <a:ext cx="2011680" cy="292608"/>
          </a:xfrm>
          <a:prstGeom prst="roundRect">
            <a:avLst>
              <a:gd name="adj" fmla="val 40625"/>
            </a:avLst>
          </a:prstGeom>
          <a:solidFill>
            <a:srgbClr val="3F4D9B"/>
          </a:solidFill>
          <a:ln w="15240">
            <a:solidFill>
              <a:srgbClr val="3F4D9B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288536" y="362102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288536" y="4014216"/>
            <a:ext cx="2011680" cy="292608"/>
          </a:xfrm>
          <a:prstGeom prst="roundRect">
            <a:avLst>
              <a:gd name="adj" fmla="val 40625"/>
            </a:avLst>
          </a:prstGeom>
          <a:solidFill>
            <a:srgbClr val="3F4D9B"/>
          </a:solidFill>
          <a:ln w="15240">
            <a:solidFill>
              <a:srgbClr val="3F4D9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288536" y="4105656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Especialista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845552" y="1325880"/>
            <a:ext cx="1463040" cy="1463040"/>
          </a:xfrm>
          <a:prstGeom prst="ellipse">
            <a:avLst/>
          </a:prstGeom>
          <a:solidFill>
            <a:srgbClr val="A7C143">
              <a:alpha val="88000"/>
            </a:srgbClr>
          </a:solidFill>
          <a:ln w="15240">
            <a:solidFill>
              <a:srgbClr val="A7C143"/>
            </a:solidFill>
            <a:prstDash val="solid"/>
          </a:ln>
        </p:spPr>
      </p:sp>
      <p:pic>
        <p:nvPicPr>
          <p:cNvPr id="23" name="Image 3" descr="/tmp/agent-tmp/pres-assets/img-02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2" y="1527048"/>
            <a:ext cx="1097280" cy="10972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70064" y="2999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C14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ENFERMERO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7571232" y="3529584"/>
            <a:ext cx="2011680" cy="292608"/>
          </a:xfrm>
          <a:prstGeom prst="roundRect">
            <a:avLst>
              <a:gd name="adj" fmla="val 40625"/>
            </a:avLst>
          </a:prstGeom>
          <a:solidFill>
            <a:srgbClr val="A7C143"/>
          </a:solidFill>
          <a:ln w="15240">
            <a:solidFill>
              <a:srgbClr val="A7C143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571232" y="362102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Especialista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7571232" y="4014216"/>
            <a:ext cx="2011680" cy="292608"/>
          </a:xfrm>
          <a:prstGeom prst="roundRect">
            <a:avLst>
              <a:gd name="adj" fmla="val 40625"/>
            </a:avLst>
          </a:prstGeom>
          <a:solidFill>
            <a:srgbClr val="A7C143"/>
          </a:solidFill>
          <a:ln w="15240">
            <a:solidFill>
              <a:srgbClr val="A7C143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571232" y="4105656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Jefe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401568" y="1618488"/>
            <a:ext cx="484632" cy="0"/>
          </a:xfrm>
          <a:prstGeom prst="line">
            <a:avLst/>
          </a:prstGeom>
          <a:noFill/>
          <a:ln w="25400">
            <a:solidFill>
              <a:srgbClr val="B68ABF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684264" y="1618488"/>
            <a:ext cx="484632" cy="0"/>
          </a:xfrm>
          <a:prstGeom prst="line">
            <a:avLst/>
          </a:prstGeom>
          <a:noFill/>
          <a:ln w="25400">
            <a:solidFill>
              <a:srgbClr val="B68ABF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401568" y="4828032"/>
            <a:ext cx="4800600" cy="512064"/>
          </a:xfrm>
          <a:prstGeom prst="roundRect">
            <a:avLst>
              <a:gd name="adj" fmla="val 35714"/>
            </a:avLst>
          </a:prstGeom>
          <a:solidFill>
            <a:srgbClr val="D7C9DF"/>
          </a:solidFill>
          <a:ln w="15240">
            <a:solidFill>
              <a:srgbClr val="B68ABF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3611880" y="5001768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2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AtencionMedica  ·  darTratamiento()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3246120" y="5532120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D7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abstractas + sobrescritura + listas polimórficas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658368" y="6327648"/>
            <a:ext cx="1417320" cy="256032"/>
          </a:xfrm>
          <a:prstGeom prst="roundRect">
            <a:avLst>
              <a:gd name="adj" fmla="val 42857"/>
            </a:avLst>
          </a:prstGeom>
          <a:solidFill>
            <a:srgbClr val="3F4D9B"/>
          </a:solidFill>
          <a:ln w="12700">
            <a:solidFill>
              <a:srgbClr val="3F4D9B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68096" y="638251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Herencia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gent-tmp/pres-assets/backgrou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" y="228600"/>
            <a:ext cx="11731752" cy="6400800"/>
          </a:xfrm>
          <a:prstGeom prst="roundRect">
            <a:avLst>
              <a:gd name="adj" fmla="val 2286"/>
            </a:avLst>
          </a:prstGeom>
          <a:solidFill>
            <a:srgbClr val="FFFFFF">
              <a:alpha val="89000"/>
            </a:srgbClr>
          </a:solidFill>
          <a:ln w="1524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561320" y="-411480"/>
            <a:ext cx="2011680" cy="2011680"/>
          </a:xfrm>
          <a:prstGeom prst="ellipse">
            <a:avLst/>
          </a:prstGeom>
          <a:solidFill>
            <a:srgbClr val="B68ABF">
              <a:alpha val="72000"/>
            </a:srgbClr>
          </a:solidFill>
          <a:ln w="12700">
            <a:solidFill>
              <a:srgbClr val="B68AB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012680" y="5303520"/>
            <a:ext cx="2377440" cy="2377440"/>
          </a:xfrm>
          <a:prstGeom prst="ellipse">
            <a:avLst/>
          </a:prstGeom>
          <a:solidFill>
            <a:srgbClr val="C4D8E9">
              <a:alpha val="58000"/>
            </a:srgbClr>
          </a:solidFill>
          <a:ln w="12700">
            <a:solidFill>
              <a:srgbClr val="C4D8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43891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spc="20" kern="0" dirty="0">
                <a:solidFill>
                  <a:srgbClr val="3F4D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ATENCIÓN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94944" y="8961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62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esencial de la etapa 2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41248" y="1463040"/>
            <a:ext cx="4069080" cy="4069080"/>
          </a:xfrm>
          <a:prstGeom prst="ellipse">
            <a:avLst/>
          </a:prstGeom>
          <a:solidFill>
            <a:srgbClr val="D7C9DF">
              <a:alpha val="96000"/>
            </a:srgbClr>
          </a:solidFill>
          <a:ln w="12700">
            <a:solidFill>
              <a:srgbClr val="D7C9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269480" y="1463040"/>
            <a:ext cx="4069080" cy="4069080"/>
          </a:xfrm>
          <a:prstGeom prst="ellipse">
            <a:avLst/>
          </a:prstGeom>
          <a:solidFill>
            <a:srgbClr val="C4D8E9">
              <a:alpha val="96000"/>
            </a:srgbClr>
          </a:solidFill>
          <a:ln w="12700">
            <a:solidFill>
              <a:srgbClr val="C4D8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61872" y="18653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62D9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Encapsulamiento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417320" y="2651760"/>
            <a:ext cx="109728" cy="109728"/>
          </a:xfrm>
          <a:prstGeom prst="ellipse">
            <a:avLst/>
          </a:prstGeom>
          <a:solidFill>
            <a:srgbClr val="B62D92"/>
          </a:solidFill>
          <a:ln w="15240">
            <a:solidFill>
              <a:srgbClr val="B62D9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18488" y="25877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 privados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417320" y="3063240"/>
            <a:ext cx="109728" cy="109728"/>
          </a:xfrm>
          <a:prstGeom prst="ellipse">
            <a:avLst/>
          </a:prstGeom>
          <a:solidFill>
            <a:srgbClr val="B62D92"/>
          </a:solidFill>
          <a:ln w="15240">
            <a:solidFill>
              <a:srgbClr val="B62D9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618488" y="29992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en métodos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417320" y="3474720"/>
            <a:ext cx="109728" cy="109728"/>
          </a:xfrm>
          <a:prstGeom prst="ellipse">
            <a:avLst/>
          </a:prstGeom>
          <a:solidFill>
            <a:srgbClr val="B62D92"/>
          </a:solidFill>
          <a:ln w="15240">
            <a:solidFill>
              <a:srgbClr val="B62D9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618488" y="34107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Colecciones protegidas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754112" y="18653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4D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Polimorfismo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7827264" y="2651760"/>
            <a:ext cx="109728" cy="109728"/>
          </a:xfrm>
          <a:prstGeom prst="ellipse">
            <a:avLst/>
          </a:prstGeom>
          <a:solidFill>
            <a:srgbClr val="3F4D9B"/>
          </a:solidFill>
          <a:ln w="15240">
            <a:solidFill>
              <a:srgbClr val="3F4D9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28432" y="258775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Sobrecarga en Sistema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827264" y="3063240"/>
            <a:ext cx="109728" cy="109728"/>
          </a:xfrm>
          <a:prstGeom prst="ellipse">
            <a:avLst/>
          </a:prstGeom>
          <a:solidFill>
            <a:srgbClr val="3F4D9B"/>
          </a:solidFill>
          <a:ln w="15240">
            <a:solidFill>
              <a:srgbClr val="3F4D9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28432" y="299923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Sobrescritura por tipo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827264" y="3474720"/>
            <a:ext cx="109728" cy="109728"/>
          </a:xfrm>
          <a:prstGeom prst="ellipse">
            <a:avLst/>
          </a:prstGeom>
          <a:solidFill>
            <a:srgbClr val="3F4D9B"/>
          </a:solidFill>
          <a:ln w="15240">
            <a:solidFill>
              <a:srgbClr val="3F4D9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28432" y="341071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lista por jerarquía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407408" y="1737360"/>
            <a:ext cx="3383280" cy="3035808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6510">
            <a:solidFill>
              <a:srgbClr val="B68AB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617720" y="4352544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62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dentro de los objetos.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58368" y="6327648"/>
            <a:ext cx="1417320" cy="256032"/>
          </a:xfrm>
          <a:prstGeom prst="roundRect">
            <a:avLst>
              <a:gd name="adj" fmla="val 42857"/>
            </a:avLst>
          </a:prstGeom>
          <a:solidFill>
            <a:srgbClr val="3F4D9B"/>
          </a:solidFill>
          <a:ln w="12700">
            <a:solidFill>
              <a:srgbClr val="3F4D9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68096" y="638251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900" dirty="0"/>
          </a:p>
        </p:txBody>
      </p:sp>
      <p:sp>
        <p:nvSpPr>
          <p:cNvPr id="29" name="TextBox 28"/>
          <p:cNvSpPr txBox="1"/>
          <p:nvPr/>
        </p:nvSpPr>
        <p:spPr>
          <a:xfrm>
            <a:off x="4617720" y="2194560"/>
            <a:ext cx="2880360" cy="182880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>
                <a:solidFill>
                  <a:srgbClr val="37565B"/>
                </a:solidFill>
                <a:latin typeface="Arial"/>
              </a:rPr>
              <a:t>Referencia base</a:t>
            </a:r>
          </a:p>
          <a:p>
            <a:pPr algn="ctr">
              <a:spcAft>
                <a:spcPts val="200"/>
              </a:spcAft>
            </a:pPr>
            <a:r>
              <a:rPr sz="1800">
                <a:solidFill>
                  <a:srgbClr val="37565B"/>
                </a:solidFill>
                <a:latin typeface="Arial"/>
              </a:rPr>
              <a:t>↓</a:t>
            </a:r>
          </a:p>
          <a:p>
            <a:pPr algn="ctr">
              <a:spcAft>
                <a:spcPts val="200"/>
              </a:spcAft>
            </a:pPr>
            <a:r>
              <a:rPr sz="1800">
                <a:solidFill>
                  <a:srgbClr val="37565B"/>
                </a:solidFill>
                <a:latin typeface="Arial"/>
              </a:rPr>
              <a:t>Objeto real</a:t>
            </a:r>
          </a:p>
          <a:p>
            <a:pPr algn="ctr">
              <a:spcAft>
                <a:spcPts val="200"/>
              </a:spcAft>
            </a:pPr>
            <a:r>
              <a:rPr sz="1800">
                <a:solidFill>
                  <a:srgbClr val="37565B"/>
                </a:solidFill>
                <a:latin typeface="Arial"/>
              </a:rPr>
              <a:t>↓</a:t>
            </a:r>
          </a:p>
          <a:p>
            <a:pPr algn="ctr">
              <a:spcAft>
                <a:spcPts val="200"/>
              </a:spcAft>
            </a:pPr>
            <a:r>
              <a:rPr sz="1800">
                <a:solidFill>
                  <a:srgbClr val="37565B"/>
                </a:solidFill>
                <a:latin typeface="Arial"/>
              </a:rPr>
              <a:t>Su implementación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gent-tmp/pres-assets/backgrou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" y="228600"/>
            <a:ext cx="11731752" cy="6400800"/>
          </a:xfrm>
          <a:prstGeom prst="roundRect">
            <a:avLst>
              <a:gd name="adj" fmla="val 2286"/>
            </a:avLst>
          </a:prstGeom>
          <a:solidFill>
            <a:srgbClr val="FFFFFF">
              <a:alpha val="89000"/>
            </a:srgbClr>
          </a:solidFill>
          <a:ln w="1524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561320" y="-411480"/>
            <a:ext cx="2011680" cy="2011680"/>
          </a:xfrm>
          <a:prstGeom prst="ellipse">
            <a:avLst/>
          </a:prstGeom>
          <a:solidFill>
            <a:srgbClr val="B68ABF">
              <a:alpha val="72000"/>
            </a:srgbClr>
          </a:solidFill>
          <a:ln w="12700">
            <a:solidFill>
              <a:srgbClr val="B68AB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012680" y="5303520"/>
            <a:ext cx="2377440" cy="2377440"/>
          </a:xfrm>
          <a:prstGeom prst="ellipse">
            <a:avLst/>
          </a:prstGeom>
          <a:solidFill>
            <a:srgbClr val="C4D8E9">
              <a:alpha val="58000"/>
            </a:srgbClr>
          </a:solidFill>
          <a:ln w="12700">
            <a:solidFill>
              <a:srgbClr val="C4D8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43891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spc="20" kern="0" dirty="0">
                <a:solidFill>
                  <a:srgbClr val="3F4D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MÉDICO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94944" y="8961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62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Responsabilidad: consultar y tratar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13258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62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 principal: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1600200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73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Asignar un paciente compatible y mantener una consulta activa.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914400" y="2587752"/>
            <a:ext cx="109728" cy="109728"/>
          </a:xfrm>
          <a:prstGeom prst="ellipse">
            <a:avLst/>
          </a:prstGeom>
          <a:solidFill>
            <a:srgbClr val="B62D92"/>
          </a:solidFill>
          <a:ln w="15240">
            <a:solidFill>
              <a:srgbClr val="B62D9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252374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Máximo 10 pacientes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14400" y="3017520"/>
            <a:ext cx="109728" cy="109728"/>
          </a:xfrm>
          <a:prstGeom prst="ellipse">
            <a:avLst/>
          </a:prstGeom>
          <a:solidFill>
            <a:srgbClr val="B62D92"/>
          </a:solidFill>
          <a:ln w="15240">
            <a:solidFill>
              <a:srgbClr val="B62D9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15568" y="295351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consulta activa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14400" y="3447288"/>
            <a:ext cx="109728" cy="109728"/>
          </a:xfrm>
          <a:prstGeom prst="ellipse">
            <a:avLst/>
          </a:prstGeom>
          <a:solidFill>
            <a:srgbClr val="B62D92"/>
          </a:solidFill>
          <a:ln w="15240">
            <a:solidFill>
              <a:srgbClr val="B62D9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15568" y="338328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o especialista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68096" y="4087368"/>
            <a:ext cx="1380744" cy="1380744"/>
          </a:xfrm>
          <a:prstGeom prst="ellipse">
            <a:avLst/>
          </a:prstGeom>
          <a:solidFill>
            <a:srgbClr val="D7C9DF"/>
          </a:solidFill>
          <a:ln w="12700">
            <a:solidFill>
              <a:srgbClr val="D7C9DF"/>
            </a:solidFill>
            <a:prstDash val="solid"/>
          </a:ln>
        </p:spPr>
      </p:sp>
      <p:pic>
        <p:nvPicPr>
          <p:cNvPr id="17" name="Image 1" descr="/tmp/agent-tmp/pres-assets/img-0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442" y="4160520"/>
            <a:ext cx="414052" cy="123444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075688" y="4087368"/>
            <a:ext cx="1380744" cy="1380744"/>
          </a:xfrm>
          <a:prstGeom prst="ellipse">
            <a:avLst/>
          </a:prstGeom>
          <a:solidFill>
            <a:srgbClr val="C4D8E9"/>
          </a:solidFill>
          <a:ln w="12700">
            <a:solidFill>
              <a:srgbClr val="C4D8E9"/>
            </a:solidFill>
            <a:prstDash val="solid"/>
          </a:ln>
        </p:spPr>
      </p:sp>
      <p:pic>
        <p:nvPicPr>
          <p:cNvPr id="19" name="Image 2" descr="/tmp/agent-tmp/pres-assets/doctor_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946" y="4160520"/>
            <a:ext cx="1182228" cy="123444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943600" y="1161288"/>
            <a:ext cx="5129784" cy="4398264"/>
          </a:xfrm>
          <a:prstGeom prst="roundRect">
            <a:avLst>
              <a:gd name="adj" fmla="val 2079"/>
            </a:avLst>
          </a:prstGeom>
          <a:solidFill>
            <a:srgbClr val="FFFFFF"/>
          </a:solidFill>
          <a:ln w="15240">
            <a:solidFill>
              <a:srgbClr val="B68ABF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016752" y="5559552"/>
            <a:ext cx="4983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62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actualizado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822960" y="5577840"/>
            <a:ext cx="3063240" cy="411480"/>
          </a:xfrm>
          <a:prstGeom prst="roundRect">
            <a:avLst>
              <a:gd name="adj" fmla="val 35556"/>
            </a:avLst>
          </a:prstGeom>
          <a:solidFill>
            <a:srgbClr val="D7C9DF"/>
          </a:solidFill>
          <a:ln w="15240">
            <a:solidFill>
              <a:srgbClr val="D7C9DF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950976" y="5715000"/>
            <a:ext cx="2816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2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darConsulta()  →  darTratamiento()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58368" y="6327648"/>
            <a:ext cx="1417320" cy="256032"/>
          </a:xfrm>
          <a:prstGeom prst="roundRect">
            <a:avLst>
              <a:gd name="adj" fmla="val 42857"/>
            </a:avLst>
          </a:prstGeom>
          <a:solidFill>
            <a:srgbClr val="3F4D9B"/>
          </a:solidFill>
          <a:ln w="12700">
            <a:solidFill>
              <a:srgbClr val="3F4D9B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68096" y="638251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Jerarquía 1</a:t>
            </a:r>
            <a:endParaRPr lang="en-US" sz="900" dirty="0"/>
          </a:p>
        </p:txBody>
      </p:sp>
      <p:pic>
        <p:nvPicPr>
          <p:cNvPr id="27" name="Picture 26" descr="UML_Resumen_Medic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6223" y="1926504"/>
            <a:ext cx="3644537" cy="28678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gent-tmp/pres-assets/backgrou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" y="228600"/>
            <a:ext cx="11731752" cy="6400800"/>
          </a:xfrm>
          <a:prstGeom prst="roundRect">
            <a:avLst>
              <a:gd name="adj" fmla="val 2286"/>
            </a:avLst>
          </a:prstGeom>
          <a:solidFill>
            <a:srgbClr val="FFFFFF">
              <a:alpha val="89000"/>
            </a:srgbClr>
          </a:solidFill>
          <a:ln w="1524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561320" y="-411480"/>
            <a:ext cx="2011680" cy="2011680"/>
          </a:xfrm>
          <a:prstGeom prst="ellipse">
            <a:avLst/>
          </a:prstGeom>
          <a:solidFill>
            <a:srgbClr val="B68ABF">
              <a:alpha val="72000"/>
            </a:srgbClr>
          </a:solidFill>
          <a:ln w="12700">
            <a:solidFill>
              <a:srgbClr val="B68AB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012680" y="5303520"/>
            <a:ext cx="2377440" cy="2377440"/>
          </a:xfrm>
          <a:prstGeom prst="ellipse">
            <a:avLst/>
          </a:prstGeom>
          <a:solidFill>
            <a:srgbClr val="C4D8E9">
              <a:alpha val="58000"/>
            </a:srgbClr>
          </a:solidFill>
          <a:ln w="12700">
            <a:solidFill>
              <a:srgbClr val="C4D8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43891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spc="20" kern="0" dirty="0">
                <a:solidFill>
                  <a:srgbClr val="3F4D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ENFERMERO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94944" y="8961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62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Responsabilidad: recibir el tratamiento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13258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62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 principal: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16002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73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Cuidar pacientes de su especialidad y pedir autorización si hace falta.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914400" y="2660904"/>
            <a:ext cx="109728" cy="109728"/>
          </a:xfrm>
          <a:prstGeom prst="ellipse">
            <a:avLst/>
          </a:prstGeom>
          <a:solidFill>
            <a:srgbClr val="A7C143"/>
          </a:solidFill>
          <a:ln w="15240">
            <a:solidFill>
              <a:srgbClr val="A7C1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25968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Cupo máximo: 3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14400" y="3090672"/>
            <a:ext cx="109728" cy="109728"/>
          </a:xfrm>
          <a:prstGeom prst="ellipse">
            <a:avLst/>
          </a:prstGeom>
          <a:solidFill>
            <a:srgbClr val="A7C143"/>
          </a:solidFill>
          <a:ln w="15240">
            <a:solidFill>
              <a:srgbClr val="A7C14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15568" y="3026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Especialidad + turno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14400" y="3520440"/>
            <a:ext cx="109728" cy="109728"/>
          </a:xfrm>
          <a:prstGeom prst="ellipse">
            <a:avLst/>
          </a:prstGeom>
          <a:solidFill>
            <a:srgbClr val="A7C143"/>
          </a:solidFill>
          <a:ln w="15240">
            <a:solidFill>
              <a:srgbClr val="A7C1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15568" y="345643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Solicita autorización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68096" y="4151376"/>
            <a:ext cx="1380744" cy="1380744"/>
          </a:xfrm>
          <a:prstGeom prst="ellipse">
            <a:avLst/>
          </a:prstGeom>
          <a:solidFill>
            <a:srgbClr val="C4D8E9"/>
          </a:solidFill>
          <a:ln w="12700">
            <a:solidFill>
              <a:srgbClr val="C4D8E9"/>
            </a:solidFill>
            <a:prstDash val="solid"/>
          </a:ln>
        </p:spPr>
      </p:sp>
      <p:pic>
        <p:nvPicPr>
          <p:cNvPr id="17" name="Image 1" descr="/tmp/agent-tmp/pres-assets/img-02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4224528"/>
            <a:ext cx="1234440" cy="123444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075688" y="4151376"/>
            <a:ext cx="1380744" cy="1380744"/>
          </a:xfrm>
          <a:prstGeom prst="ellipse">
            <a:avLst/>
          </a:prstGeom>
          <a:solidFill>
            <a:srgbClr val="D7C9DF"/>
          </a:solidFill>
          <a:ln w="12700">
            <a:solidFill>
              <a:srgbClr val="D7C9DF"/>
            </a:solidFill>
            <a:prstDash val="solid"/>
          </a:ln>
        </p:spPr>
      </p:sp>
      <p:pic>
        <p:nvPicPr>
          <p:cNvPr id="19" name="Image 2" descr="/tmp/agent-tmp/pres-assets/fac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4233204"/>
            <a:ext cx="1234440" cy="121708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943600" y="1161288"/>
            <a:ext cx="5129784" cy="4398264"/>
          </a:xfrm>
          <a:prstGeom prst="roundRect">
            <a:avLst>
              <a:gd name="adj" fmla="val 2079"/>
            </a:avLst>
          </a:prstGeom>
          <a:solidFill>
            <a:srgbClr val="FFFFFF"/>
          </a:solidFill>
          <a:ln w="15240">
            <a:solidFill>
              <a:srgbClr val="B68ABF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016752" y="5559552"/>
            <a:ext cx="4983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62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actualizado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822960" y="5577840"/>
            <a:ext cx="3108960" cy="411480"/>
          </a:xfrm>
          <a:prstGeom prst="roundRect">
            <a:avLst>
              <a:gd name="adj" fmla="val 35556"/>
            </a:avLst>
          </a:prstGeom>
          <a:solidFill>
            <a:srgbClr val="C4D8E9"/>
          </a:solidFill>
          <a:ln w="15240">
            <a:solidFill>
              <a:srgbClr val="C4D8E9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941832" y="5715000"/>
            <a:ext cx="2880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4D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Máximo 3 pacientes de su área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58368" y="6327648"/>
            <a:ext cx="1417320" cy="256032"/>
          </a:xfrm>
          <a:prstGeom prst="roundRect">
            <a:avLst>
              <a:gd name="adj" fmla="val 42857"/>
            </a:avLst>
          </a:prstGeom>
          <a:solidFill>
            <a:srgbClr val="A7C143"/>
          </a:solidFill>
          <a:ln w="12700">
            <a:solidFill>
              <a:srgbClr val="A7C143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68096" y="638251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Jerarquía 2</a:t>
            </a:r>
            <a:endParaRPr lang="en-US" sz="900" dirty="0"/>
          </a:p>
        </p:txBody>
      </p:sp>
      <p:pic>
        <p:nvPicPr>
          <p:cNvPr id="27" name="Picture 26" descr="UML_Resumen_Enfermer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6752" y="1399707"/>
            <a:ext cx="4983480" cy="39214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gent-tmp/pres-assets/backgrou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" y="228600"/>
            <a:ext cx="11731752" cy="6400800"/>
          </a:xfrm>
          <a:prstGeom prst="roundRect">
            <a:avLst>
              <a:gd name="adj" fmla="val 2286"/>
            </a:avLst>
          </a:prstGeom>
          <a:solidFill>
            <a:srgbClr val="FFFFFF">
              <a:alpha val="89000"/>
            </a:srgbClr>
          </a:solidFill>
          <a:ln w="1524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561320" y="-411480"/>
            <a:ext cx="2011680" cy="2011680"/>
          </a:xfrm>
          <a:prstGeom prst="ellipse">
            <a:avLst/>
          </a:prstGeom>
          <a:solidFill>
            <a:srgbClr val="B68ABF">
              <a:alpha val="72000"/>
            </a:srgbClr>
          </a:solidFill>
          <a:ln w="12700">
            <a:solidFill>
              <a:srgbClr val="B68AB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012680" y="5303520"/>
            <a:ext cx="2377440" cy="2377440"/>
          </a:xfrm>
          <a:prstGeom prst="ellipse">
            <a:avLst/>
          </a:prstGeom>
          <a:solidFill>
            <a:srgbClr val="C4D8E9">
              <a:alpha val="58000"/>
            </a:srgbClr>
          </a:solidFill>
          <a:ln w="12700">
            <a:solidFill>
              <a:srgbClr val="C4D8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43891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spc="20" kern="0" dirty="0">
                <a:solidFill>
                  <a:srgbClr val="3F4D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PACIENTE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94944" y="8961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62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Responsabilidad: solicitar atención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4672" y="13441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62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del paciente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1783080"/>
            <a:ext cx="960120" cy="411480"/>
          </a:xfrm>
          <a:prstGeom prst="roundRect">
            <a:avLst>
              <a:gd name="adj" fmla="val 35556"/>
            </a:avLst>
          </a:prstGeom>
          <a:solidFill>
            <a:srgbClr val="F0D54B"/>
          </a:solidFill>
          <a:ln w="15240">
            <a:solidFill>
              <a:srgbClr val="F0D54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1920240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EN_ESPERA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847088" y="1984248"/>
            <a:ext cx="155448" cy="0"/>
          </a:xfrm>
          <a:prstGeom prst="line">
            <a:avLst/>
          </a:prstGeom>
          <a:noFill/>
          <a:ln w="15240">
            <a:solidFill>
              <a:srgbClr val="B68AB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011680" y="1783080"/>
            <a:ext cx="960120" cy="411480"/>
          </a:xfrm>
          <a:prstGeom prst="roundRect">
            <a:avLst>
              <a:gd name="adj" fmla="val 35556"/>
            </a:avLst>
          </a:prstGeom>
          <a:solidFill>
            <a:srgbClr val="B68ABF"/>
          </a:solidFill>
          <a:ln w="15240">
            <a:solidFill>
              <a:srgbClr val="B68A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11680" y="1920240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EN_CONSULTA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990088" y="1984248"/>
            <a:ext cx="155448" cy="0"/>
          </a:xfrm>
          <a:prstGeom prst="line">
            <a:avLst/>
          </a:prstGeom>
          <a:noFill/>
          <a:ln w="15240">
            <a:solidFill>
              <a:srgbClr val="B68ABF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154680" y="1783080"/>
            <a:ext cx="960120" cy="411480"/>
          </a:xfrm>
          <a:prstGeom prst="roundRect">
            <a:avLst>
              <a:gd name="adj" fmla="val 35556"/>
            </a:avLst>
          </a:prstGeom>
          <a:solidFill>
            <a:srgbClr val="A7C143"/>
          </a:solidFill>
          <a:ln w="15240">
            <a:solidFill>
              <a:srgbClr val="A7C1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54680" y="1920240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EN_TRATAMIENTO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14400" y="2807208"/>
            <a:ext cx="109728" cy="109728"/>
          </a:xfrm>
          <a:prstGeom prst="ellipse">
            <a:avLst/>
          </a:prstGeom>
          <a:solidFill>
            <a:srgbClr val="B62D92"/>
          </a:solidFill>
          <a:ln w="15240">
            <a:solidFill>
              <a:srgbClr val="B62D9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5568" y="27432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PacienteGeneral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914400" y="3236976"/>
            <a:ext cx="109728" cy="109728"/>
          </a:xfrm>
          <a:prstGeom prst="ellipse">
            <a:avLst/>
          </a:prstGeom>
          <a:solidFill>
            <a:srgbClr val="B62D92"/>
          </a:solidFill>
          <a:ln w="15240">
            <a:solidFill>
              <a:srgbClr val="B62D9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5568" y="31729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PacienteEspecialidad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14400" y="3666744"/>
            <a:ext cx="109728" cy="109728"/>
          </a:xfrm>
          <a:prstGeom prst="ellipse">
            <a:avLst/>
          </a:prstGeom>
          <a:solidFill>
            <a:srgbClr val="B62D92"/>
          </a:solidFill>
          <a:ln w="15240">
            <a:solidFill>
              <a:srgbClr val="B62D9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5568" y="36027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Medicamento: aleatorio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1024128" y="4169664"/>
            <a:ext cx="1563624" cy="1563624"/>
          </a:xfrm>
          <a:prstGeom prst="ellipse">
            <a:avLst/>
          </a:prstGeom>
          <a:solidFill>
            <a:srgbClr val="D7C9DF"/>
          </a:solidFill>
          <a:ln w="12700">
            <a:solidFill>
              <a:srgbClr val="D7C9DF"/>
            </a:solidFill>
            <a:prstDash val="solid"/>
          </a:ln>
        </p:spPr>
      </p:sp>
      <p:pic>
        <p:nvPicPr>
          <p:cNvPr id="24" name="Image 1" descr="/tmp/agent-tmp/pres-assets/baby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4242816"/>
            <a:ext cx="1417320" cy="141732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2624328" y="4169664"/>
            <a:ext cx="1563624" cy="1563624"/>
          </a:xfrm>
          <a:prstGeom prst="ellipse">
            <a:avLst/>
          </a:prstGeom>
          <a:solidFill>
            <a:srgbClr val="C4D8E9"/>
          </a:solidFill>
          <a:ln w="12700">
            <a:solidFill>
              <a:srgbClr val="C4D8E9"/>
            </a:solidFill>
            <a:prstDash val="solid"/>
          </a:ln>
        </p:spPr>
      </p:sp>
      <p:pic>
        <p:nvPicPr>
          <p:cNvPr id="26" name="Image 2" descr="/tmp/agent-tmp/pres-assets/img-02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4242816"/>
            <a:ext cx="1417320" cy="141732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5943600" y="1161288"/>
            <a:ext cx="5129784" cy="4398264"/>
          </a:xfrm>
          <a:prstGeom prst="roundRect">
            <a:avLst>
              <a:gd name="adj" fmla="val 2079"/>
            </a:avLst>
          </a:prstGeom>
          <a:solidFill>
            <a:srgbClr val="FFFFFF"/>
          </a:solidFill>
          <a:ln w="15240">
            <a:solidFill>
              <a:srgbClr val="B68ABF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016752" y="5559552"/>
            <a:ext cx="4983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62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actualizado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841248" y="5650992"/>
            <a:ext cx="3154680" cy="365760"/>
          </a:xfrm>
          <a:prstGeom prst="roundRect">
            <a:avLst>
              <a:gd name="adj" fmla="val 37500"/>
            </a:avLst>
          </a:prstGeom>
          <a:solidFill>
            <a:srgbClr val="D7C9DF"/>
          </a:solidFill>
          <a:ln w="15240">
            <a:solidFill>
              <a:srgbClr val="D7C9DF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87552" y="5769864"/>
            <a:ext cx="2852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2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Necesidad y autorización separadas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658368" y="6327648"/>
            <a:ext cx="1417320" cy="256032"/>
          </a:xfrm>
          <a:prstGeom prst="roundRect">
            <a:avLst>
              <a:gd name="adj" fmla="val 42857"/>
            </a:avLst>
          </a:prstGeom>
          <a:solidFill>
            <a:srgbClr val="B62D92"/>
          </a:solidFill>
          <a:ln w="12700">
            <a:solidFill>
              <a:srgbClr val="B62D92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68096" y="638251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Jerarquía 3</a:t>
            </a:r>
            <a:endParaRPr lang="en-US" sz="900" dirty="0"/>
          </a:p>
        </p:txBody>
      </p:sp>
      <p:pic>
        <p:nvPicPr>
          <p:cNvPr id="34" name="Picture 33" descr="UML_Resumen_Pacien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6524" y="1777232"/>
            <a:ext cx="4023937" cy="31663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gent-tmp/pres-assets/backgrou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" y="228600"/>
            <a:ext cx="11731752" cy="6400800"/>
          </a:xfrm>
          <a:prstGeom prst="roundRect">
            <a:avLst>
              <a:gd name="adj" fmla="val 2286"/>
            </a:avLst>
          </a:prstGeom>
          <a:solidFill>
            <a:srgbClr val="FFFFFF">
              <a:alpha val="89000"/>
            </a:srgbClr>
          </a:solidFill>
          <a:ln w="1524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561320" y="-411480"/>
            <a:ext cx="2011680" cy="2011680"/>
          </a:xfrm>
          <a:prstGeom prst="ellipse">
            <a:avLst/>
          </a:prstGeom>
          <a:solidFill>
            <a:srgbClr val="B68ABF">
              <a:alpha val="72000"/>
            </a:srgbClr>
          </a:solidFill>
          <a:ln w="12700">
            <a:solidFill>
              <a:srgbClr val="B68AB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012680" y="5303520"/>
            <a:ext cx="2377440" cy="2377440"/>
          </a:xfrm>
          <a:prstGeom prst="ellipse">
            <a:avLst/>
          </a:prstGeom>
          <a:solidFill>
            <a:srgbClr val="C4D8E9">
              <a:alpha val="58000"/>
            </a:srgbClr>
          </a:solidFill>
          <a:ln w="12700">
            <a:solidFill>
              <a:srgbClr val="C4D8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43891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spc="20" kern="0" dirty="0">
                <a:solidFill>
                  <a:srgbClr val="3F4D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SISTEMA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94944" y="8961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62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Responsabilidad: coordinar el hospital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4672" y="13350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62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 principal: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1627632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73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Registrar y asignar por ID de especialidad, hospital y cupo.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896112" y="2642616"/>
            <a:ext cx="109728" cy="109728"/>
          </a:xfrm>
          <a:prstGeom prst="ellipse">
            <a:avLst/>
          </a:prstGeom>
          <a:solidFill>
            <a:srgbClr val="3F4D9B"/>
          </a:solidFill>
          <a:ln w="15240">
            <a:solidFill>
              <a:srgbClr val="3F4D9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5786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de especialidades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96112" y="3072384"/>
            <a:ext cx="109728" cy="109728"/>
          </a:xfrm>
          <a:prstGeom prst="ellipse">
            <a:avLst/>
          </a:prstGeom>
          <a:solidFill>
            <a:srgbClr val="3F4D9B"/>
          </a:solidFill>
          <a:ln w="15240">
            <a:solidFill>
              <a:srgbClr val="3F4D9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0" y="300837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Sobrecarga asignarPaciente()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96112" y="3502152"/>
            <a:ext cx="109728" cy="109728"/>
          </a:xfrm>
          <a:prstGeom prst="ellipse">
            <a:avLst/>
          </a:prstGeom>
          <a:solidFill>
            <a:srgbClr val="3F4D9B"/>
          </a:solidFill>
          <a:ln w="15240">
            <a:solidFill>
              <a:srgbClr val="3F4D9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7280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Máximo 2 jefes por área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68096" y="4059936"/>
            <a:ext cx="1517904" cy="1517904"/>
          </a:xfrm>
          <a:prstGeom prst="ellipse">
            <a:avLst/>
          </a:prstGeom>
          <a:solidFill>
            <a:srgbClr val="C4D8E9"/>
          </a:solidFill>
          <a:ln w="12700">
            <a:solidFill>
              <a:srgbClr val="C4D8E9"/>
            </a:solidFill>
            <a:prstDash val="solid"/>
          </a:ln>
        </p:spPr>
      </p:sp>
      <p:pic>
        <p:nvPicPr>
          <p:cNvPr id="17" name="Image 1" descr="/tmp/agent-tmp/pres-assets/doctors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4133088"/>
            <a:ext cx="1371600" cy="13716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322576" y="4059936"/>
            <a:ext cx="1517904" cy="1517904"/>
          </a:xfrm>
          <a:prstGeom prst="ellipse">
            <a:avLst/>
          </a:prstGeom>
          <a:solidFill>
            <a:srgbClr val="D7C9DF"/>
          </a:solidFill>
          <a:ln w="12700">
            <a:solidFill>
              <a:srgbClr val="D7C9DF"/>
            </a:solidFill>
            <a:prstDash val="solid"/>
          </a:ln>
        </p:spPr>
      </p:sp>
      <p:pic>
        <p:nvPicPr>
          <p:cNvPr id="19" name="Image 2" descr="/tmp/agent-tmp/pres-assets/img-06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4389311"/>
            <a:ext cx="1371600" cy="859155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943600" y="1161288"/>
            <a:ext cx="5129784" cy="4398264"/>
          </a:xfrm>
          <a:prstGeom prst="roundRect">
            <a:avLst>
              <a:gd name="adj" fmla="val 2079"/>
            </a:avLst>
          </a:prstGeom>
          <a:solidFill>
            <a:srgbClr val="FFFFFF"/>
          </a:solidFill>
          <a:ln w="15240">
            <a:solidFill>
              <a:srgbClr val="B68ABF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016752" y="5559552"/>
            <a:ext cx="4983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62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actualizado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841248" y="5577840"/>
            <a:ext cx="3337560" cy="411480"/>
          </a:xfrm>
          <a:prstGeom prst="roundRect">
            <a:avLst>
              <a:gd name="adj" fmla="val 35556"/>
            </a:avLst>
          </a:prstGeom>
          <a:solidFill>
            <a:srgbClr val="D7C9DF"/>
          </a:solidFill>
          <a:ln w="15240">
            <a:solidFill>
              <a:srgbClr val="D7C9DF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969264" y="5715000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2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 →  asignación  →  coordinación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58368" y="6327648"/>
            <a:ext cx="1417320" cy="256032"/>
          </a:xfrm>
          <a:prstGeom prst="roundRect">
            <a:avLst>
              <a:gd name="adj" fmla="val 42857"/>
            </a:avLst>
          </a:prstGeom>
          <a:solidFill>
            <a:srgbClr val="3F4D9B"/>
          </a:solidFill>
          <a:ln w="12700">
            <a:solidFill>
              <a:srgbClr val="3F4D9B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68096" y="638251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Coordinación</a:t>
            </a:r>
            <a:endParaRPr lang="en-US" sz="900" dirty="0"/>
          </a:p>
        </p:txBody>
      </p:sp>
      <p:pic>
        <p:nvPicPr>
          <p:cNvPr id="27" name="Picture 26" descr="UML_Resumen_Sistem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3998" y="1830326"/>
            <a:ext cx="3888988" cy="30601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gent-tmp/pres-assets/backgrou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" y="228600"/>
            <a:ext cx="11731752" cy="6400800"/>
          </a:xfrm>
          <a:prstGeom prst="roundRect">
            <a:avLst>
              <a:gd name="adj" fmla="val 2286"/>
            </a:avLst>
          </a:prstGeom>
          <a:solidFill>
            <a:srgbClr val="FFFFFF">
              <a:alpha val="89000"/>
            </a:srgbClr>
          </a:solidFill>
          <a:ln w="1524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561320" y="-411480"/>
            <a:ext cx="2011680" cy="2011680"/>
          </a:xfrm>
          <a:prstGeom prst="ellipse">
            <a:avLst/>
          </a:prstGeom>
          <a:solidFill>
            <a:srgbClr val="B68ABF">
              <a:alpha val="72000"/>
            </a:srgbClr>
          </a:solidFill>
          <a:ln w="12700">
            <a:solidFill>
              <a:srgbClr val="B68AB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012680" y="5303520"/>
            <a:ext cx="2377440" cy="2377440"/>
          </a:xfrm>
          <a:prstGeom prst="ellipse">
            <a:avLst/>
          </a:prstGeom>
          <a:solidFill>
            <a:srgbClr val="C4D8E9">
              <a:alpha val="58000"/>
            </a:srgbClr>
          </a:solidFill>
          <a:ln w="12700">
            <a:solidFill>
              <a:srgbClr val="C4D8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43891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20" kern="0" dirty="0">
                <a:solidFill>
                  <a:srgbClr val="3F4D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JEFE DE ENFERMERÍA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94944" y="8961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62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Supervisión de una especialidad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13258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62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 principal: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16002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73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Coordinar turnos, traslados y medicamentos de su propia área.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914400" y="2660904"/>
            <a:ext cx="109728" cy="109728"/>
          </a:xfrm>
          <a:prstGeom prst="ellipse">
            <a:avLst/>
          </a:prstGeom>
          <a:solidFill>
            <a:srgbClr val="A7C143"/>
          </a:solidFill>
          <a:ln w="15240">
            <a:solidFill>
              <a:srgbClr val="A7C1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25968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y cambiar turnos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14400" y="3090672"/>
            <a:ext cx="109728" cy="109728"/>
          </a:xfrm>
          <a:prstGeom prst="ellipse">
            <a:avLst/>
          </a:prstGeom>
          <a:solidFill>
            <a:srgbClr val="A7C143"/>
          </a:solidFill>
          <a:ln w="15240">
            <a:solidFill>
              <a:srgbClr val="A7C14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15568" y="3026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Cambiar enfermero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14400" y="3520440"/>
            <a:ext cx="109728" cy="109728"/>
          </a:xfrm>
          <a:prstGeom prst="ellipse">
            <a:avLst/>
          </a:prstGeom>
          <a:solidFill>
            <a:srgbClr val="A7C143"/>
          </a:solidFill>
          <a:ln w="15240">
            <a:solidFill>
              <a:srgbClr val="A7C1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15568" y="345643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Autorizar medicamentos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68096" y="4151376"/>
            <a:ext cx="1380744" cy="1380744"/>
          </a:xfrm>
          <a:prstGeom prst="ellipse">
            <a:avLst/>
          </a:prstGeom>
          <a:solidFill>
            <a:srgbClr val="C4D8E9"/>
          </a:solidFill>
          <a:ln w="12700">
            <a:solidFill>
              <a:srgbClr val="C4D8E9"/>
            </a:solidFill>
            <a:prstDash val="solid"/>
          </a:ln>
        </p:spPr>
      </p:sp>
      <p:pic>
        <p:nvPicPr>
          <p:cNvPr id="17" name="Image 1" descr="/tmp/agent-tmp/pres-assets/img-02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4224528"/>
            <a:ext cx="1234440" cy="123444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075688" y="4151376"/>
            <a:ext cx="1380744" cy="1380744"/>
          </a:xfrm>
          <a:prstGeom prst="ellipse">
            <a:avLst/>
          </a:prstGeom>
          <a:solidFill>
            <a:srgbClr val="D7C9DF"/>
          </a:solidFill>
          <a:ln w="12700">
            <a:solidFill>
              <a:srgbClr val="D7C9DF"/>
            </a:solidFill>
            <a:prstDash val="solid"/>
          </a:ln>
        </p:spPr>
      </p:sp>
      <p:pic>
        <p:nvPicPr>
          <p:cNvPr id="19" name="Image 2" descr="/tmp/agent-tmp/pres-assets/fac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4233204"/>
            <a:ext cx="1234440" cy="121708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943600" y="1161288"/>
            <a:ext cx="5129784" cy="4398264"/>
          </a:xfrm>
          <a:prstGeom prst="roundRect">
            <a:avLst>
              <a:gd name="adj" fmla="val 2079"/>
            </a:avLst>
          </a:prstGeom>
          <a:solidFill>
            <a:srgbClr val="FFFFFF"/>
          </a:solidFill>
          <a:ln w="15240">
            <a:solidFill>
              <a:srgbClr val="B68ABF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016752" y="5559552"/>
            <a:ext cx="4983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62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Máximo 2 supervisores por área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822960" y="5577840"/>
            <a:ext cx="3108960" cy="411480"/>
          </a:xfrm>
          <a:prstGeom prst="roundRect">
            <a:avLst>
              <a:gd name="adj" fmla="val 35556"/>
            </a:avLst>
          </a:prstGeom>
          <a:solidFill>
            <a:srgbClr val="C4D8E9"/>
          </a:solidFill>
          <a:ln w="15240">
            <a:solidFill>
              <a:srgbClr val="C4D8E9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941832" y="5715000"/>
            <a:ext cx="2880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4D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sin otros supervisores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58368" y="6327648"/>
            <a:ext cx="1417320" cy="256032"/>
          </a:xfrm>
          <a:prstGeom prst="roundRect">
            <a:avLst>
              <a:gd name="adj" fmla="val 42857"/>
            </a:avLst>
          </a:prstGeom>
          <a:solidFill>
            <a:srgbClr val="A7C143"/>
          </a:solidFill>
          <a:ln w="12700">
            <a:solidFill>
              <a:srgbClr val="A7C143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68096" y="638251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Supervisión</a:t>
            </a:r>
            <a:endParaRPr lang="en-US" sz="900" dirty="0"/>
          </a:p>
        </p:txBody>
      </p:sp>
      <p:pic>
        <p:nvPicPr>
          <p:cNvPr id="27" name="Picture 26" descr="UML_Resumen_JefeEnfermeri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6752" y="1399707"/>
            <a:ext cx="4983480" cy="39214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gent-tmp/pres-assets/backgrou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" y="228600"/>
            <a:ext cx="11731752" cy="6400800"/>
          </a:xfrm>
          <a:prstGeom prst="roundRect">
            <a:avLst>
              <a:gd name="adj" fmla="val 2286"/>
            </a:avLst>
          </a:prstGeom>
          <a:solidFill>
            <a:srgbClr val="FFFFFF">
              <a:alpha val="89000"/>
            </a:srgbClr>
          </a:solidFill>
          <a:ln w="1524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561320" y="-411480"/>
            <a:ext cx="2011680" cy="2011680"/>
          </a:xfrm>
          <a:prstGeom prst="ellipse">
            <a:avLst/>
          </a:prstGeom>
          <a:solidFill>
            <a:srgbClr val="B68ABF">
              <a:alpha val="72000"/>
            </a:srgbClr>
          </a:solidFill>
          <a:ln w="12700">
            <a:solidFill>
              <a:srgbClr val="B68AB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012680" y="5303520"/>
            <a:ext cx="2377440" cy="2377440"/>
          </a:xfrm>
          <a:prstGeom prst="ellipse">
            <a:avLst/>
          </a:prstGeom>
          <a:solidFill>
            <a:srgbClr val="C4D8E9">
              <a:alpha val="58000"/>
            </a:srgbClr>
          </a:solidFill>
          <a:ln w="12700">
            <a:solidFill>
              <a:srgbClr val="C4D8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43891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spc="20" kern="0" dirty="0">
                <a:solidFill>
                  <a:srgbClr val="3F4D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ESPECIALIDADES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94944" y="8961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62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Map con IDs propios por hospital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4672" y="13350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62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 principal: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1627632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73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Elegir una especialidad por su ID, no por su posición.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896112" y="2642616"/>
            <a:ext cx="109728" cy="109728"/>
          </a:xfrm>
          <a:prstGeom prst="ellipse">
            <a:avLst/>
          </a:prstGeom>
          <a:solidFill>
            <a:srgbClr val="3F4D9B"/>
          </a:solidFill>
          <a:ln w="15240">
            <a:solidFill>
              <a:srgbClr val="3F4D9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5786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1: medicina general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96112" y="3072384"/>
            <a:ext cx="109728" cy="109728"/>
          </a:xfrm>
          <a:prstGeom prst="ellipse">
            <a:avLst/>
          </a:prstGeom>
          <a:solidFill>
            <a:srgbClr val="3F4D9B"/>
          </a:solidFill>
          <a:ln w="15240">
            <a:solidFill>
              <a:srgbClr val="3F4D9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0" y="300837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2–99: personalizables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96112" y="3502152"/>
            <a:ext cx="109728" cy="109728"/>
          </a:xfrm>
          <a:prstGeom prst="ellipse">
            <a:avLst/>
          </a:prstGeom>
          <a:solidFill>
            <a:srgbClr val="3F4D9B"/>
          </a:solidFill>
          <a:ln w="15240">
            <a:solidFill>
              <a:srgbClr val="3F4D9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7280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e ID únicos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68096" y="4059936"/>
            <a:ext cx="1517904" cy="1517904"/>
          </a:xfrm>
          <a:prstGeom prst="ellipse">
            <a:avLst/>
          </a:prstGeom>
          <a:solidFill>
            <a:srgbClr val="C4D8E9"/>
          </a:solidFill>
          <a:ln w="12700">
            <a:solidFill>
              <a:srgbClr val="C4D8E9"/>
            </a:solidFill>
            <a:prstDash val="solid"/>
          </a:ln>
        </p:spPr>
      </p:sp>
      <p:pic>
        <p:nvPicPr>
          <p:cNvPr id="17" name="Image 1" descr="/tmp/agent-tmp/pres-assets/doctors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4133088"/>
            <a:ext cx="1371600" cy="13716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322576" y="4059936"/>
            <a:ext cx="1517904" cy="1517904"/>
          </a:xfrm>
          <a:prstGeom prst="ellipse">
            <a:avLst/>
          </a:prstGeom>
          <a:solidFill>
            <a:srgbClr val="D7C9DF"/>
          </a:solidFill>
          <a:ln w="12700">
            <a:solidFill>
              <a:srgbClr val="D7C9DF"/>
            </a:solidFill>
            <a:prstDash val="solid"/>
          </a:ln>
        </p:spPr>
      </p:sp>
      <p:pic>
        <p:nvPicPr>
          <p:cNvPr id="19" name="Image 2" descr="/tmp/agent-tmp/pres-assets/img-06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4389311"/>
            <a:ext cx="1371600" cy="859155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943600" y="1161288"/>
            <a:ext cx="5129784" cy="4398264"/>
          </a:xfrm>
          <a:prstGeom prst="roundRect">
            <a:avLst>
              <a:gd name="adj" fmla="val 2079"/>
            </a:avLst>
          </a:prstGeom>
          <a:solidFill>
            <a:srgbClr val="FFFFFF"/>
          </a:solidFill>
          <a:ln w="15240">
            <a:solidFill>
              <a:srgbClr val="B68ABF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016752" y="5559552"/>
            <a:ext cx="4983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62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visible al seleccionar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841248" y="5577840"/>
            <a:ext cx="3337560" cy="411480"/>
          </a:xfrm>
          <a:prstGeom prst="roundRect">
            <a:avLst>
              <a:gd name="adj" fmla="val 35556"/>
            </a:avLst>
          </a:prstGeom>
          <a:solidFill>
            <a:srgbClr val="D7C9DF"/>
          </a:solidFill>
          <a:ln w="15240">
            <a:solidFill>
              <a:srgbClr val="D7C9DF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969264" y="5715000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2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siempre cancela la captura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58368" y="6327648"/>
            <a:ext cx="1417320" cy="256032"/>
          </a:xfrm>
          <a:prstGeom prst="roundRect">
            <a:avLst>
              <a:gd name="adj" fmla="val 42857"/>
            </a:avLst>
          </a:prstGeom>
          <a:solidFill>
            <a:srgbClr val="3F4D9B"/>
          </a:solidFill>
          <a:ln w="12700">
            <a:solidFill>
              <a:srgbClr val="3F4D9B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68096" y="638251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</a:t>
            </a:r>
            <a:endParaRPr lang="en-US" sz="900" dirty="0"/>
          </a:p>
        </p:txBody>
      </p:sp>
      <p:pic>
        <p:nvPicPr>
          <p:cNvPr id="27" name="Picture 26" descr="UML_Resumen_Cata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3998" y="1830326"/>
            <a:ext cx="3888988" cy="30601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gent-tmp/pres-assets/backgrou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" y="228600"/>
            <a:ext cx="11731752" cy="6400800"/>
          </a:xfrm>
          <a:prstGeom prst="roundRect">
            <a:avLst>
              <a:gd name="adj" fmla="val 2286"/>
            </a:avLst>
          </a:prstGeom>
          <a:solidFill>
            <a:srgbClr val="FFFFFF">
              <a:alpha val="89000"/>
            </a:srgbClr>
          </a:solidFill>
          <a:ln w="1524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561320" y="-411480"/>
            <a:ext cx="2011680" cy="2011680"/>
          </a:xfrm>
          <a:prstGeom prst="ellipse">
            <a:avLst/>
          </a:prstGeom>
          <a:solidFill>
            <a:srgbClr val="B68ABF">
              <a:alpha val="72000"/>
            </a:srgbClr>
          </a:solidFill>
          <a:ln w="12700">
            <a:solidFill>
              <a:srgbClr val="B68AB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012680" y="5303520"/>
            <a:ext cx="2377440" cy="2377440"/>
          </a:xfrm>
          <a:prstGeom prst="ellipse">
            <a:avLst/>
          </a:prstGeom>
          <a:solidFill>
            <a:srgbClr val="C4D8E9">
              <a:alpha val="58000"/>
            </a:srgbClr>
          </a:solidFill>
          <a:ln w="12700">
            <a:solidFill>
              <a:srgbClr val="C4D8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43891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spc="20" kern="0" dirty="0">
                <a:solidFill>
                  <a:srgbClr val="3F4D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DEMOSTRACIÓN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94944" y="8961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62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y recorrido en vivo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91072" y="5303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 comprobaciones de reglas y pruebas del menú interactivo.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" y="1353312"/>
            <a:ext cx="4343400" cy="4343400"/>
          </a:xfrm>
          <a:prstGeom prst="ellipse">
            <a:avLst/>
          </a:prstGeom>
          <a:solidFill>
            <a:srgbClr val="D7C9DF">
              <a:alpha val="96000"/>
            </a:srgbClr>
          </a:solidFill>
          <a:ln w="12700">
            <a:solidFill>
              <a:srgbClr val="D7C9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3000" y="17007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62D9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Recorrido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1170432" y="2331720"/>
            <a:ext cx="109728" cy="109728"/>
          </a:xfrm>
          <a:prstGeom prst="ellipse">
            <a:avLst/>
          </a:prstGeom>
          <a:solidFill>
            <a:srgbClr val="B62D92"/>
          </a:solidFill>
          <a:ln w="15240">
            <a:solidFill>
              <a:srgbClr val="B62D9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0" y="22677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cargar demo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170432" y="2743200"/>
            <a:ext cx="109728" cy="109728"/>
          </a:xfrm>
          <a:prstGeom prst="ellipse">
            <a:avLst/>
          </a:prstGeom>
          <a:solidFill>
            <a:srgbClr val="B62D92"/>
          </a:solidFill>
          <a:ln w="15240">
            <a:solidFill>
              <a:srgbClr val="B62D9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71600" y="267919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6–7: consultar y tratar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170432" y="3154680"/>
            <a:ext cx="109728" cy="109728"/>
          </a:xfrm>
          <a:prstGeom prst="ellipse">
            <a:avLst/>
          </a:prstGeom>
          <a:solidFill>
            <a:srgbClr val="B62D92"/>
          </a:solidFill>
          <a:ln w="15240">
            <a:solidFill>
              <a:srgbClr val="B62D9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371600" y="30906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 cambiar turno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170432" y="3566160"/>
            <a:ext cx="109728" cy="109728"/>
          </a:xfrm>
          <a:prstGeom prst="ellipse">
            <a:avLst/>
          </a:prstGeom>
          <a:solidFill>
            <a:srgbClr val="B62D92"/>
          </a:solidFill>
          <a:ln w="15240">
            <a:solidFill>
              <a:srgbClr val="B62D9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71600" y="350215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 cambiar enfermero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078992" y="4279392"/>
            <a:ext cx="3017520" cy="420624"/>
          </a:xfrm>
          <a:prstGeom prst="roundRect">
            <a:avLst>
              <a:gd name="adj" fmla="val 43478"/>
            </a:avLst>
          </a:prstGeom>
          <a:solidFill>
            <a:srgbClr val="B68ABF"/>
          </a:solidFill>
          <a:ln w="15240">
            <a:solidFill>
              <a:srgbClr val="B68AB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88720" y="4416552"/>
            <a:ext cx="2788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por médico · 3 por enfermero · 2 jefes por área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053328" y="1417320"/>
            <a:ext cx="4901184" cy="4407408"/>
          </a:xfrm>
          <a:prstGeom prst="roundRect">
            <a:avLst>
              <a:gd name="adj" fmla="val 3734"/>
            </a:avLst>
          </a:prstGeom>
          <a:solidFill>
            <a:srgbClr val="FFFFFF"/>
          </a:solidFill>
          <a:ln w="15240">
            <a:solidFill>
              <a:srgbClr val="C4D8E9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309360" y="5138928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62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 ejecutable + JAR de interfaz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58368" y="6327648"/>
            <a:ext cx="1417320" cy="256032"/>
          </a:xfrm>
          <a:prstGeom prst="roundRect">
            <a:avLst>
              <a:gd name="adj" fmla="val 42857"/>
            </a:avLst>
          </a:prstGeom>
          <a:solidFill>
            <a:srgbClr val="3F4D9B"/>
          </a:solidFill>
          <a:ln w="12700">
            <a:solidFill>
              <a:srgbClr val="3F4D9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68096" y="638251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</a:t>
            </a:r>
            <a:endParaRPr lang="en-US" sz="900" dirty="0"/>
          </a:p>
        </p:txBody>
      </p:sp>
      <p:pic>
        <p:nvPicPr>
          <p:cNvPr id="26" name="Picture 25" descr="UML_Resumen_De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1080" y="1972957"/>
            <a:ext cx="3305680" cy="26011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gent-tmp/pres-assets/backgrou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" y="228600"/>
            <a:ext cx="11731752" cy="6400800"/>
          </a:xfrm>
          <a:prstGeom prst="roundRect">
            <a:avLst>
              <a:gd name="adj" fmla="val 2286"/>
            </a:avLst>
          </a:prstGeom>
          <a:solidFill>
            <a:srgbClr val="FFFFFF">
              <a:alpha val="89000"/>
            </a:srgbClr>
          </a:solidFill>
          <a:ln w="1524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561320" y="-411480"/>
            <a:ext cx="2011680" cy="2011680"/>
          </a:xfrm>
          <a:prstGeom prst="ellipse">
            <a:avLst/>
          </a:prstGeom>
          <a:solidFill>
            <a:srgbClr val="B68ABF">
              <a:alpha val="72000"/>
            </a:srgbClr>
          </a:solidFill>
          <a:ln w="12700">
            <a:solidFill>
              <a:srgbClr val="B68AB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012680" y="5303520"/>
            <a:ext cx="2377440" cy="2377440"/>
          </a:xfrm>
          <a:prstGeom prst="ellipse">
            <a:avLst/>
          </a:prstGeom>
          <a:solidFill>
            <a:srgbClr val="C4D8E9">
              <a:alpha val="58000"/>
            </a:srgbClr>
          </a:solidFill>
          <a:ln w="12700">
            <a:solidFill>
              <a:srgbClr val="C4D8E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11312" y="640080"/>
            <a:ext cx="3108960" cy="3108960"/>
          </a:xfrm>
          <a:prstGeom prst="ellipse">
            <a:avLst/>
          </a:prstGeom>
          <a:solidFill>
            <a:srgbClr val="B68ABF">
              <a:alpha val="54000"/>
            </a:srgbClr>
          </a:solidFill>
          <a:ln w="15240">
            <a:solidFill>
              <a:srgbClr val="B68AB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49640" y="987552"/>
            <a:ext cx="2423160" cy="2423160"/>
          </a:xfrm>
          <a:prstGeom prst="ellipse">
            <a:avLst/>
          </a:prstGeom>
          <a:solidFill>
            <a:srgbClr val="FFFFFF">
              <a:alpha val="0"/>
            </a:srgbClr>
          </a:solidFill>
          <a:ln w="17780">
            <a:solidFill>
              <a:srgbClr val="B68AB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0" y="10789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F4D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¡GRACIAS!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3429000" y="187452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62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fase 2  ·  Sistema hospitalario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749040" y="2505456"/>
            <a:ext cx="4663440" cy="475488"/>
          </a:xfrm>
          <a:prstGeom prst="roundRect">
            <a:avLst>
              <a:gd name="adj" fmla="val 38462"/>
            </a:avLst>
          </a:prstGeom>
          <a:solidFill>
            <a:srgbClr val="D7C9DF"/>
          </a:solidFill>
          <a:ln w="15240">
            <a:solidFill>
              <a:srgbClr val="D7C9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77640" y="2679192"/>
            <a:ext cx="4206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2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encapsulamiento  ·  herencia  ·  polimorfismo</a:t>
            </a:r>
            <a:endParaRPr lang="en-US" sz="1100" dirty="0"/>
          </a:p>
        </p:txBody>
      </p:sp>
      <p:pic>
        <p:nvPicPr>
          <p:cNvPr id="12" name="Image 1" descr="/tmp/agent-tmp/pres-assets/character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657600"/>
            <a:ext cx="2286000" cy="1600200"/>
          </a:xfrm>
          <a:prstGeom prst="rect">
            <a:avLst/>
          </a:prstGeom>
        </p:spPr>
      </p:pic>
      <p:pic>
        <p:nvPicPr>
          <p:cNvPr id="13" name="Image 2" descr="/tmp/agent-tmp/pres-assets/characters_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703320"/>
            <a:ext cx="2148840" cy="21488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77240" y="5440680"/>
            <a:ext cx="301752" cy="301752"/>
          </a:xfrm>
          <a:prstGeom prst="ellipse">
            <a:avLst/>
          </a:prstGeom>
          <a:solidFill>
            <a:srgbClr val="F0D54B"/>
          </a:solidFill>
          <a:ln w="15240">
            <a:solidFill>
              <a:srgbClr val="F0D54B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0972800" y="5413248"/>
            <a:ext cx="384048" cy="384048"/>
          </a:xfrm>
          <a:prstGeom prst="ellipse">
            <a:avLst/>
          </a:prstGeom>
          <a:solidFill>
            <a:srgbClr val="A7C143"/>
          </a:solidFill>
          <a:ln w="15240">
            <a:solidFill>
              <a:srgbClr val="A7C143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617720" y="57150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D7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2  ·  Grupo 7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58368" y="6327648"/>
            <a:ext cx="1417320" cy="256032"/>
          </a:xfrm>
          <a:prstGeom prst="roundRect">
            <a:avLst>
              <a:gd name="adj" fmla="val 42857"/>
            </a:avLst>
          </a:prstGeom>
          <a:solidFill>
            <a:srgbClr val="B62D92"/>
          </a:solidFill>
          <a:ln w="12700">
            <a:solidFill>
              <a:srgbClr val="B62D92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68096" y="638251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ookm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Universidad Nacional Autónoma de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Simulador de sistema hospitalario · fase 2</dc:title>
  <dc:subject>Proyecto fase 2 de POO</dc:subject>
  <dc:creator>Equipo 2</dc:creator>
  <cp:lastModifiedBy>Equipo 2</cp:lastModifiedBy>
  <cp:revision>1</cp:revision>
  <dcterms:created xsi:type="dcterms:W3CDTF">2026-10-25T03:30:46Z</dcterms:created>
  <dcterms:modified xsi:type="dcterms:W3CDTF">2026-10-25T03:30:46Z</dcterms:modified>
</cp:coreProperties>
</file>