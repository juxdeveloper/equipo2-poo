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06840" y="-502920"/>
            <a:ext cx="4069080" cy="4069080"/>
          </a:xfrm>
          <a:prstGeom prst="ellipse">
            <a:avLst/>
          </a:prstGeom>
          <a:solidFill>
            <a:srgbClr val="2A1F55"/>
          </a:solidFill>
          <a:ln w="15240">
            <a:solidFill>
              <a:srgbClr val="2A1F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38360" y="228600"/>
            <a:ext cx="2057400" cy="2057400"/>
          </a:xfrm>
          <a:prstGeom prst="ellipse">
            <a:avLst/>
          </a:prstGeom>
          <a:solidFill>
            <a:srgbClr val="A78BFA"/>
          </a:solidFill>
          <a:ln w="15240">
            <a:solidFill>
              <a:srgbClr val="A78B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56692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 w="15240">
            <a:solidFill>
              <a:srgbClr val="2DD4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566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01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1325880" y="65836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40" kern="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FASE 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21792" y="1572768"/>
            <a:ext cx="5760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hospital</a:t>
            </a:r>
            <a:endParaRPr lang="en-US" sz="3900" dirty="0"/>
          </a:p>
          <a:p>
            <a:pPr algn="l" indent="0" marL="0">
              <a:buNone/>
            </a:pPr>
            <a:r>
              <a:rPr lang="en-US" sz="39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sistema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658368" y="321868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D7E1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Encapsulamiento · herencia · abstracción · interfaces · polimorfismo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4892040"/>
            <a:ext cx="2834640" cy="658368"/>
          </a:xfrm>
          <a:prstGeom prst="roundRect">
            <a:avLst>
              <a:gd name="adj" fmla="val 22222"/>
            </a:avLst>
          </a:prstGeom>
          <a:solidFill>
            <a:srgbClr val="18263C"/>
          </a:solidFill>
          <a:ln w="15240">
            <a:solidFill>
              <a:srgbClr val="3141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504748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Simulador de sistema hospitalario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368" y="605332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A7B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2 · Grupo 7 · POO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A7B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Nacional Autónoma de México · octubre de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10" kern="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hospital, tres reglas que no se pueden romper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21792" y="1353312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diseño conserva las restricciones de la primera etapa y las vuelve visibles en los objetos.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148840"/>
            <a:ext cx="3246120" cy="2148840"/>
          </a:xfrm>
          <a:prstGeom prst="roundRect">
            <a:avLst>
              <a:gd name="adj" fmla="val 7660"/>
            </a:avLst>
          </a:prstGeom>
          <a:solidFill>
            <a:srgbClr val="FFFFFF"/>
          </a:solidFill>
          <a:ln w="15240">
            <a:solidFill>
              <a:srgbClr val="D7DE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450592"/>
            <a:ext cx="566928" cy="566928"/>
          </a:xfrm>
          <a:prstGeom prst="ellipse">
            <a:avLst/>
          </a:prstGeom>
          <a:solidFill>
            <a:srgbClr val="A78BFA"/>
          </a:solidFill>
          <a:ln w="15240">
            <a:solidFill>
              <a:srgbClr val="A78B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587752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645920" y="25146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081528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A78B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892808" y="321868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de atención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388620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y especialidad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80560" y="2148840"/>
            <a:ext cx="3246120" cy="2148840"/>
          </a:xfrm>
          <a:prstGeom prst="roundRect">
            <a:avLst>
              <a:gd name="adj" fmla="val 7660"/>
            </a:avLst>
          </a:prstGeom>
          <a:solidFill>
            <a:srgbClr val="FFFFFF"/>
          </a:solidFill>
          <a:ln w="15240">
            <a:solidFill>
              <a:srgbClr val="D7DE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36592" y="2450592"/>
            <a:ext cx="566928" cy="566928"/>
          </a:xfrm>
          <a:prstGeom prst="ellipse">
            <a:avLst/>
          </a:prstGeom>
          <a:solidFill>
            <a:srgbClr val="4F8CC9"/>
          </a:solidFill>
          <a:ln w="15240">
            <a:solidFill>
              <a:srgbClr val="4F8C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6592" y="2587752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68112" y="25146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36592" y="3081528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4F8C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5715000" y="321868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 máximo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36592" y="388620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consulta activa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302752" y="2148840"/>
            <a:ext cx="3246120" cy="2148840"/>
          </a:xfrm>
          <a:prstGeom prst="roundRect">
            <a:avLst>
              <a:gd name="adj" fmla="val 7660"/>
            </a:avLst>
          </a:prstGeom>
          <a:solidFill>
            <a:srgbClr val="FFFFFF"/>
          </a:solidFill>
          <a:ln w="15240">
            <a:solidFill>
              <a:srgbClr val="D7DE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58784" y="2450592"/>
            <a:ext cx="566928" cy="566928"/>
          </a:xfrm>
          <a:prstGeom prst="ellipse">
            <a:avLst/>
          </a:prstGeom>
          <a:solidFill>
            <a:srgbClr val="3E9B78"/>
          </a:solidFill>
          <a:ln w="15240">
            <a:solidFill>
              <a:srgbClr val="3E9B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58784" y="2587752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290304" y="25146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ENFERMEROS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58784" y="3081528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3E9B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9537192" y="321868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 máximo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558784" y="388620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persona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58368" y="4892040"/>
            <a:ext cx="10881360" cy="822960"/>
          </a:xfrm>
          <a:prstGeom prst="roundRect">
            <a:avLst>
              <a:gd name="adj" fmla="val 20000"/>
            </a:avLst>
          </a:prstGeom>
          <a:solidFill>
            <a:srgbClr val="E8F8F5"/>
          </a:solidFill>
          <a:ln w="15240">
            <a:solidFill>
              <a:srgbClr val="B7EE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5138928"/>
            <a:ext cx="10287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solución no necesita una estructura por subclase: usa listas de las clases base y deja que cada objeto concrete su comportamiento.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dominio guía la estructura: registro → asignación → consulta → tratamiento.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10" kern="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JERARQUÍAS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jerarquías, un mismo lenguaje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21792" y="135331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B8C5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clases abstractas concentran lo común; las derivadas hacen explícita la diferencia.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13232" y="2148840"/>
            <a:ext cx="2971800" cy="658368"/>
          </a:xfrm>
          <a:prstGeom prst="roundRect">
            <a:avLst>
              <a:gd name="adj" fmla="val 19444"/>
            </a:avLst>
          </a:prstGeom>
          <a:solidFill>
            <a:srgbClr val="A78BFA"/>
          </a:solidFill>
          <a:ln w="15240">
            <a:solidFill>
              <a:srgbClr val="A78BF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234086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Paciente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2203704" y="2816352"/>
            <a:ext cx="0" cy="402336"/>
          </a:xfrm>
          <a:prstGeom prst="line">
            <a:avLst/>
          </a:prstGeom>
          <a:noFill/>
          <a:ln w="19050">
            <a:solidFill>
              <a:srgbClr val="65748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850392" y="3310128"/>
            <a:ext cx="2697480" cy="621792"/>
          </a:xfrm>
          <a:prstGeom prst="roundRect">
            <a:avLst>
              <a:gd name="adj" fmla="val 17647"/>
            </a:avLst>
          </a:prstGeom>
          <a:solidFill>
            <a:srgbClr val="1A2940"/>
          </a:solidFill>
          <a:ln w="15240">
            <a:solidFill>
              <a:srgbClr val="4051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348386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PacienteGeneral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03704" y="3218688"/>
            <a:ext cx="0" cy="91440"/>
          </a:xfrm>
          <a:prstGeom prst="line">
            <a:avLst/>
          </a:prstGeom>
          <a:noFill/>
          <a:ln w="13970">
            <a:solidFill>
              <a:srgbClr val="65748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50392" y="4334256"/>
            <a:ext cx="2697480" cy="621792"/>
          </a:xfrm>
          <a:prstGeom prst="roundRect">
            <a:avLst>
              <a:gd name="adj" fmla="val 17647"/>
            </a:avLst>
          </a:prstGeom>
          <a:solidFill>
            <a:srgbClr val="1A2940"/>
          </a:solidFill>
          <a:ln w="15240">
            <a:solidFill>
              <a:srgbClr val="4051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1832" y="45079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PacienteEspecialidad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203704" y="3218688"/>
            <a:ext cx="0" cy="1115568"/>
          </a:xfrm>
          <a:prstGeom prst="line">
            <a:avLst/>
          </a:prstGeom>
          <a:noFill/>
          <a:ln w="13970">
            <a:solidFill>
              <a:srgbClr val="65748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224528" y="2148840"/>
            <a:ext cx="2971800" cy="658368"/>
          </a:xfrm>
          <a:prstGeom prst="roundRect">
            <a:avLst>
              <a:gd name="adj" fmla="val 19444"/>
            </a:avLst>
          </a:prstGeom>
          <a:solidFill>
            <a:srgbClr val="2DD4BF"/>
          </a:solidFill>
          <a:ln w="15240">
            <a:solidFill>
              <a:srgbClr val="2DD4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24528" y="234086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Medico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5715000" y="2816352"/>
            <a:ext cx="0" cy="402336"/>
          </a:xfrm>
          <a:prstGeom prst="line">
            <a:avLst/>
          </a:prstGeom>
          <a:noFill/>
          <a:ln w="19050">
            <a:solidFill>
              <a:srgbClr val="65748A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61688" y="3310128"/>
            <a:ext cx="2697480" cy="621792"/>
          </a:xfrm>
          <a:prstGeom prst="roundRect">
            <a:avLst>
              <a:gd name="adj" fmla="val 17647"/>
            </a:avLst>
          </a:prstGeom>
          <a:solidFill>
            <a:srgbClr val="1A2940"/>
          </a:solidFill>
          <a:ln w="15240">
            <a:solidFill>
              <a:srgbClr val="4051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53128" y="348386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MedicoGeneral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15000" y="3218688"/>
            <a:ext cx="0" cy="91440"/>
          </a:xfrm>
          <a:prstGeom prst="line">
            <a:avLst/>
          </a:prstGeom>
          <a:noFill/>
          <a:ln w="13970">
            <a:solidFill>
              <a:srgbClr val="65748A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361688" y="4334256"/>
            <a:ext cx="2697480" cy="621792"/>
          </a:xfrm>
          <a:prstGeom prst="roundRect">
            <a:avLst>
              <a:gd name="adj" fmla="val 17647"/>
            </a:avLst>
          </a:prstGeom>
          <a:solidFill>
            <a:srgbClr val="1A2940"/>
          </a:solidFill>
          <a:ln w="15240">
            <a:solidFill>
              <a:srgbClr val="4051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45079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MedicoEspecialista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715000" y="3218688"/>
            <a:ext cx="0" cy="1115568"/>
          </a:xfrm>
          <a:prstGeom prst="line">
            <a:avLst/>
          </a:prstGeom>
          <a:noFill/>
          <a:ln w="13970">
            <a:solidFill>
              <a:srgbClr val="65748A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735824" y="2148840"/>
            <a:ext cx="2971800" cy="658368"/>
          </a:xfrm>
          <a:prstGeom prst="roundRect">
            <a:avLst>
              <a:gd name="adj" fmla="val 19444"/>
            </a:avLst>
          </a:prstGeom>
          <a:solidFill>
            <a:srgbClr val="F5B84B"/>
          </a:solidFill>
          <a:ln w="15240">
            <a:solidFill>
              <a:srgbClr val="F5B84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35824" y="234086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Enfermero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9226296" y="2816352"/>
            <a:ext cx="0" cy="402336"/>
          </a:xfrm>
          <a:prstGeom prst="line">
            <a:avLst/>
          </a:prstGeom>
          <a:noFill/>
          <a:ln w="19050">
            <a:solidFill>
              <a:srgbClr val="65748A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872984" y="3310128"/>
            <a:ext cx="2697480" cy="621792"/>
          </a:xfrm>
          <a:prstGeom prst="roundRect">
            <a:avLst>
              <a:gd name="adj" fmla="val 17647"/>
            </a:avLst>
          </a:prstGeom>
          <a:solidFill>
            <a:srgbClr val="1A2940"/>
          </a:solidFill>
          <a:ln w="15240">
            <a:solidFill>
              <a:srgbClr val="4051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64424" y="348386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EnfermeroEspecialista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9226296" y="3218688"/>
            <a:ext cx="0" cy="91440"/>
          </a:xfrm>
          <a:prstGeom prst="line">
            <a:avLst/>
          </a:prstGeom>
          <a:noFill/>
          <a:ln w="13970">
            <a:solidFill>
              <a:srgbClr val="65748A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872984" y="4334256"/>
            <a:ext cx="2697480" cy="621792"/>
          </a:xfrm>
          <a:prstGeom prst="roundRect">
            <a:avLst>
              <a:gd name="adj" fmla="val 17647"/>
            </a:avLst>
          </a:prstGeom>
          <a:solidFill>
            <a:srgbClr val="1A2940"/>
          </a:solidFill>
          <a:ln w="15240">
            <a:solidFill>
              <a:srgbClr val="4051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64424" y="45079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JefeEnfermeria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226296" y="3218688"/>
            <a:ext cx="0" cy="1115568"/>
          </a:xfrm>
          <a:prstGeom prst="line">
            <a:avLst/>
          </a:prstGeom>
          <a:noFill/>
          <a:ln w="13970">
            <a:solidFill>
              <a:srgbClr val="65748A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713232" y="5824728"/>
            <a:ext cx="10058400" cy="438912"/>
          </a:xfrm>
          <a:prstGeom prst="roundRect">
            <a:avLst>
              <a:gd name="adj" fmla="val 29167"/>
            </a:avLst>
          </a:prstGeom>
          <a:solidFill>
            <a:srgbClr val="1A2940"/>
          </a:solidFill>
          <a:ln w="15240">
            <a:solidFill>
              <a:srgbClr val="2D415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60120" y="5943600"/>
            <a:ext cx="9601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D7E1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derivada incorpora una regla propia y puede sobrescribir una operación heredada.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A7B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Herencia sin duplicación: una base común, varias decisiones concretas.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10" kern="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ENCAPSULAMIENTO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Encapsular es decidir quién puede tocar el estado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21792" y="1353312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dato vive dentro del objeto; la regla de cambio vive junto al dato.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13232" y="2057400"/>
            <a:ext cx="3886200" cy="283464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524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235915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privado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87552" y="2852928"/>
            <a:ext cx="2651760" cy="274320"/>
          </a:xfrm>
          <a:prstGeom prst="roundRect">
            <a:avLst>
              <a:gd name="adj" fmla="val 26667"/>
            </a:avLst>
          </a:prstGeom>
          <a:solidFill>
            <a:srgbClr val="F1F5F9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2898648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 nombre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87552" y="3273552"/>
            <a:ext cx="2651760" cy="274320"/>
          </a:xfrm>
          <a:prstGeom prst="roundRect">
            <a:avLst>
              <a:gd name="adj" fmla="val 26667"/>
            </a:avLst>
          </a:prstGeom>
          <a:solidFill>
            <a:srgbClr val="F1F5F9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5568" y="3319272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 estado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87552" y="3694176"/>
            <a:ext cx="2651760" cy="274320"/>
          </a:xfrm>
          <a:prstGeom prst="roundRect">
            <a:avLst>
              <a:gd name="adj" fmla="val 26667"/>
            </a:avLst>
          </a:prstGeom>
          <a:solidFill>
            <a:srgbClr val="F1F5F9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5568" y="3739896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 medico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87552" y="4114800"/>
            <a:ext cx="2651760" cy="274320"/>
          </a:xfrm>
          <a:prstGeom prst="roundRect">
            <a:avLst>
              <a:gd name="adj" fmla="val 26667"/>
            </a:avLst>
          </a:prstGeom>
          <a:solidFill>
            <a:srgbClr val="F1F5F9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15568" y="4160520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 pacientes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069080" y="3273552"/>
            <a:ext cx="475488" cy="475488"/>
          </a:xfrm>
          <a:prstGeom prst="ellipse">
            <a:avLst/>
          </a:prstGeom>
          <a:solidFill>
            <a:srgbClr val="A78BFA"/>
          </a:solidFill>
          <a:ln w="15240">
            <a:solidFill>
              <a:srgbClr val="A78B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69080" y="3383280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617720" y="3511296"/>
            <a:ext cx="886968" cy="0"/>
          </a:xfrm>
          <a:prstGeom prst="line">
            <a:avLst/>
          </a:prstGeom>
          <a:noFill/>
          <a:ln w="27940">
            <a:solidFill>
              <a:srgbClr val="A78BFA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650992" y="2057400"/>
            <a:ext cx="4709160" cy="2834640"/>
          </a:xfrm>
          <a:prstGeom prst="roundRect">
            <a:avLst>
              <a:gd name="adj" fmla="val 5806"/>
            </a:avLst>
          </a:prstGeom>
          <a:solidFill>
            <a:srgbClr val="101828"/>
          </a:solidFill>
          <a:ln w="15240">
            <a:solidFill>
              <a:srgbClr val="10182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61888" y="235915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Operaciones válidas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961888" y="288950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setEstado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498080" y="2889504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7E1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transiciones definidas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961888" y="341985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addPaciente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498080" y="3419856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7E1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comprueba el cupo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961888" y="395020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darConsulta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498080" y="3950208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7E1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comprueba asignación y disponibilidad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13232" y="5349240"/>
            <a:ext cx="9646920" cy="658368"/>
          </a:xfrm>
          <a:prstGeom prst="roundRect">
            <a:avLst>
              <a:gd name="adj" fmla="val 19444"/>
            </a:avLst>
          </a:prstGeom>
          <a:solidFill>
            <a:srgbClr val="EDE9FE"/>
          </a:solidFill>
          <a:ln w="15240">
            <a:solidFill>
              <a:srgbClr val="DDD6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2688" y="5541264"/>
            <a:ext cx="9189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clase externa pide una operación; no reescribe la representación interna.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validación pertenece al objeto que conoce el significado de sus datos.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10" kern="0" dirty="0">
                <a:solidFill>
                  <a:srgbClr val="F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POLIMORFISMO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Polimorfismo en dos tiempos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13232" y="1874520"/>
            <a:ext cx="4892040" cy="3520440"/>
          </a:xfrm>
          <a:prstGeom prst="roundRect">
            <a:avLst>
              <a:gd name="adj" fmla="val 4675"/>
            </a:avLst>
          </a:prstGeom>
          <a:solidFill>
            <a:srgbClr val="18263C"/>
          </a:solidFill>
          <a:ln w="15240">
            <a:solidFill>
              <a:srgbClr val="3044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63640" y="1874520"/>
            <a:ext cx="5212080" cy="3520440"/>
          </a:xfrm>
          <a:prstGeom prst="roundRect">
            <a:avLst>
              <a:gd name="adj" fmla="val 4675"/>
            </a:avLst>
          </a:prstGeom>
          <a:solidFill>
            <a:srgbClr val="18263C"/>
          </a:solidFill>
          <a:ln w="15240">
            <a:solidFill>
              <a:srgbClr val="3044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2148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Estático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33272" y="2532888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9D5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sobrecarga se elige al compilar.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33272" y="3090672"/>
            <a:ext cx="4224528" cy="347472"/>
          </a:xfrm>
          <a:prstGeom prst="roundRect">
            <a:avLst>
              <a:gd name="adj" fmla="val 21053"/>
            </a:avLst>
          </a:prstGeom>
          <a:solidFill>
            <a:srgbClr val="243A55"/>
          </a:solidFill>
          <a:ln w="15240">
            <a:solidFill>
              <a:srgbClr val="3C567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3182112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PacienteGeneral → asignarPaciente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33272" y="3657600"/>
            <a:ext cx="4224528" cy="347472"/>
          </a:xfrm>
          <a:prstGeom prst="roundRect">
            <a:avLst>
              <a:gd name="adj" fmla="val 21053"/>
            </a:avLst>
          </a:prstGeom>
          <a:solidFill>
            <a:srgbClr val="243A55"/>
          </a:solidFill>
          <a:ln w="15240">
            <a:solidFill>
              <a:srgbClr val="3C567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37490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PacienteEspecialidad → asignarPaciente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33272" y="4224528"/>
            <a:ext cx="4224528" cy="347472"/>
          </a:xfrm>
          <a:prstGeom prst="roundRect">
            <a:avLst>
              <a:gd name="adj" fmla="val 21053"/>
            </a:avLst>
          </a:prstGeom>
          <a:solidFill>
            <a:srgbClr val="243A55"/>
          </a:solidFill>
          <a:ln w="15240">
            <a:solidFill>
              <a:srgbClr val="3C567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4315968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MedicoGeneral → asignarPaciente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0" y="2148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Dinámico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583680" y="2532888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9D5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subclase decide al ejecutar.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583680" y="3090672"/>
            <a:ext cx="4526280" cy="347472"/>
          </a:xfrm>
          <a:prstGeom prst="roundRect">
            <a:avLst>
              <a:gd name="adj" fmla="val 21053"/>
            </a:avLst>
          </a:prstGeom>
          <a:solidFill>
            <a:srgbClr val="243A55"/>
          </a:solidFill>
          <a:ln w="15240">
            <a:solidFill>
              <a:srgbClr val="3C567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39128" y="318211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Medico → darConsulta → especialista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0" y="3657600"/>
            <a:ext cx="4526280" cy="347472"/>
          </a:xfrm>
          <a:prstGeom prst="roundRect">
            <a:avLst>
              <a:gd name="adj" fmla="val 21053"/>
            </a:avLst>
          </a:prstGeom>
          <a:solidFill>
            <a:srgbClr val="243A55"/>
          </a:solidFill>
          <a:ln w="15240">
            <a:solidFill>
              <a:srgbClr val="3C567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39128" y="3749040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Enfermero → darTratamiento → jefe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583680" y="4224528"/>
            <a:ext cx="4526280" cy="347472"/>
          </a:xfrm>
          <a:prstGeom prst="roundRect">
            <a:avLst>
              <a:gd name="adj" fmla="val 21053"/>
            </a:avLst>
          </a:prstGeom>
          <a:solidFill>
            <a:srgbClr val="243A55"/>
          </a:solidFill>
          <a:ln w="15240">
            <a:solidFill>
              <a:srgbClr val="3C567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39128" y="4315968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 → buscarMedico → tipo real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779008" y="3639312"/>
            <a:ext cx="420624" cy="0"/>
          </a:xfrm>
          <a:prstGeom prst="line">
            <a:avLst/>
          </a:prstGeom>
          <a:noFill/>
          <a:ln w="31750">
            <a:solidFill>
              <a:srgbClr val="FB7185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468112" y="3374136"/>
            <a:ext cx="621792" cy="621792"/>
          </a:xfrm>
          <a:prstGeom prst="ellipse">
            <a:avLst/>
          </a:prstGeom>
          <a:solidFill>
            <a:srgbClr val="FB7185"/>
          </a:solidFill>
          <a:ln w="1524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68112" y="3529584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A7B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misma intención; una selección estática y una respuesta concreta en tiempo de ejecución.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10" kern="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FLUJO DE ATENCIÓN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recorrido completo cabe en cuatro movimientos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21792" y="135331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sistema pasa de datos registrados a estados observables sin perder las restricciones.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76656" y="2331720"/>
            <a:ext cx="676656" cy="676656"/>
          </a:xfrm>
          <a:prstGeom prst="ellipse">
            <a:avLst/>
          </a:prstGeom>
          <a:solidFill>
            <a:srgbClr val="2DD4BF"/>
          </a:solidFill>
          <a:ln w="15240">
            <a:solidFill>
              <a:srgbClr val="2DD4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2551176"/>
            <a:ext cx="676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481328" y="2670048"/>
            <a:ext cx="1591056" cy="0"/>
          </a:xfrm>
          <a:prstGeom prst="line">
            <a:avLst/>
          </a:prstGeom>
          <a:noFill/>
          <a:ln w="25400">
            <a:solidFill>
              <a:srgbClr val="D7DEE8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49224" y="3337560"/>
            <a:ext cx="2240280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524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2104" y="35661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Registro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3950208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objetos dentro del sistema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74720" y="2331720"/>
            <a:ext cx="676656" cy="676656"/>
          </a:xfrm>
          <a:prstGeom prst="ellipse">
            <a:avLst/>
          </a:prstGeom>
          <a:solidFill>
            <a:srgbClr val="A78BFA"/>
          </a:solidFill>
          <a:ln w="1524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0" y="2551176"/>
            <a:ext cx="676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279392" y="2670048"/>
            <a:ext cx="1591056" cy="0"/>
          </a:xfrm>
          <a:prstGeom prst="line">
            <a:avLst/>
          </a:prstGeom>
          <a:noFill/>
          <a:ln w="25400">
            <a:solidFill>
              <a:srgbClr val="D7DEE8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447288" y="3337560"/>
            <a:ext cx="2240280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5240">
            <a:solidFill>
              <a:srgbClr val="D7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30168" y="35661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78B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Asignación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621024" y="3950208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y especialidad compatible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72784" y="2331720"/>
            <a:ext cx="676656" cy="676656"/>
          </a:xfrm>
          <a:prstGeom prst="ellipse">
            <a:avLst/>
          </a:prstGeom>
          <a:solidFill>
            <a:srgbClr val="4F8CC9"/>
          </a:solidFill>
          <a:ln w="15240">
            <a:solidFill>
              <a:srgbClr val="4F8C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72784" y="2551176"/>
            <a:ext cx="676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077456" y="2670048"/>
            <a:ext cx="1591056" cy="0"/>
          </a:xfrm>
          <a:prstGeom prst="line">
            <a:avLst/>
          </a:prstGeom>
          <a:noFill/>
          <a:ln w="25400">
            <a:solidFill>
              <a:srgbClr val="D7DEE8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245352" y="3337560"/>
            <a:ext cx="2240280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524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28232" y="35661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F8C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19088" y="3950208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médico, un paciente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70848" y="2331720"/>
            <a:ext cx="676656" cy="676656"/>
          </a:xfrm>
          <a:prstGeom prst="ellipse">
            <a:avLst/>
          </a:prstGeom>
          <a:solidFill>
            <a:srgbClr val="FB7185"/>
          </a:solidFill>
          <a:ln w="1524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70848" y="2551176"/>
            <a:ext cx="676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043416" y="3337560"/>
            <a:ext cx="2240280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5240">
            <a:solidFill>
              <a:srgbClr val="D7DE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26296" y="35661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71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Tratamiento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217152" y="3950208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enfermero y cupo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060704" y="5285232"/>
            <a:ext cx="9326880" cy="658368"/>
          </a:xfrm>
          <a:prstGeom prst="roundRect">
            <a:avLst>
              <a:gd name="adj" fmla="val 22222"/>
            </a:avLst>
          </a:prstGeom>
          <a:solidFill>
            <a:srgbClr val="101828"/>
          </a:solidFill>
          <a:ln w="15240">
            <a:solidFill>
              <a:srgbClr val="10182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25880" y="5477256"/>
            <a:ext cx="8823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EN_ESPERA  →  EN_CONSULTA  →  EN_TRATAMIENTO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estado del paciente hace visible la colaboración entre las tres jerarquías.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10" kern="0" dirty="0">
                <a:solidFill>
                  <a:srgbClr val="F5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EVIDENCIA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ejecución observada confirma el diseño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21792" y="1353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B8C5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pacientes recorren el mismo sistema y terminan en tratamiento por rutas compatibles.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13232" y="1965960"/>
            <a:ext cx="6903720" cy="3493008"/>
          </a:xfrm>
          <a:prstGeom prst="roundRect">
            <a:avLst>
              <a:gd name="adj" fmla="val 4188"/>
            </a:avLst>
          </a:prstGeom>
          <a:solidFill>
            <a:srgbClr val="0B1220"/>
          </a:solidFill>
          <a:ln w="15240">
            <a:solidFill>
              <a:srgbClr val="3044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221284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-jar hospital-fase2.jar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87552" y="2697480"/>
            <a:ext cx="612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D7E1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 : Medico registrado correctamente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87552" y="3081528"/>
            <a:ext cx="612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D7E1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 : Paciente registrado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87552" y="3465576"/>
            <a:ext cx="612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D7E1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 : Paciente en consulta con el medico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87552" y="3849624"/>
            <a:ext cx="612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D7E1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 : Tratamiento proporcionado al paciente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87552" y="4233672"/>
            <a:ext cx="612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María López -&gt; EN_TRATAMIENTO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87552" y="4617720"/>
            <a:ext cx="612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Carlos Méndez -&gt; EN_TRATAMIENTO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28432" y="1965960"/>
            <a:ext cx="3310128" cy="1417320"/>
          </a:xfrm>
          <a:prstGeom prst="roundRect">
            <a:avLst>
              <a:gd name="adj" fmla="val 10323"/>
            </a:avLst>
          </a:prstGeom>
          <a:solidFill>
            <a:srgbClr val="2A1F55"/>
          </a:solidFill>
          <a:ln w="15240">
            <a:solidFill>
              <a:srgbClr val="5941A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94192" y="2212848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A78B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9189720" y="236829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 en tratamiento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28432" y="3675888"/>
            <a:ext cx="3310128" cy="1783080"/>
          </a:xfrm>
          <a:prstGeom prst="roundRect">
            <a:avLst>
              <a:gd name="adj" fmla="val 8205"/>
            </a:avLst>
          </a:prstGeom>
          <a:solidFill>
            <a:srgbClr val="18263C"/>
          </a:solidFill>
          <a:ln w="15240">
            <a:solidFill>
              <a:srgbClr val="3044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39328" y="396849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Jefe de enfermería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39328" y="449884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D7E1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supervisa 2 enfermeros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A7B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misma salida se verificó desde la carpeta de compilación y desde el JAR.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10" kern="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solución sencilla también puede ser extensible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21792" y="13533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proyecto crece sin perder la regla más importante: cada objeto conoce su responsabilidad.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04672" y="2240280"/>
            <a:ext cx="2029968" cy="2029968"/>
          </a:xfrm>
          <a:prstGeom prst="ellipse">
            <a:avLst/>
          </a:prstGeom>
          <a:solidFill>
            <a:srgbClr val="101828"/>
          </a:solidFill>
          <a:ln w="15240">
            <a:solidFill>
              <a:srgbClr val="101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926080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POO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3703320" y="2212848"/>
            <a:ext cx="608076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5240">
            <a:solidFill>
              <a:srgbClr val="D7DE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77640" y="2377440"/>
            <a:ext cx="384048" cy="384048"/>
          </a:xfrm>
          <a:prstGeom prst="ellipse">
            <a:avLst/>
          </a:prstGeom>
          <a:solidFill>
            <a:srgbClr val="2DD4BF"/>
          </a:solidFill>
          <a:ln w="15240">
            <a:solidFill>
              <a:srgbClr val="2DD4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53712" y="237744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Encapsulamiento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784848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protege el estado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03320" y="3200400"/>
            <a:ext cx="608076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5240">
            <a:solidFill>
              <a:srgbClr val="D7DE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77640" y="3364992"/>
            <a:ext cx="384048" cy="384048"/>
          </a:xfrm>
          <a:prstGeom prst="ellipse">
            <a:avLst/>
          </a:prstGeom>
          <a:solidFill>
            <a:srgbClr val="A78BFA"/>
          </a:solidFill>
          <a:ln w="15240">
            <a:solidFill>
              <a:srgbClr val="A78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53712" y="336499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Herencia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784848" y="336499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reutiliza lo común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03320" y="4187952"/>
            <a:ext cx="608076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5240">
            <a:solidFill>
              <a:srgbClr val="D7DE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77640" y="4352544"/>
            <a:ext cx="384048" cy="384048"/>
          </a:xfrm>
          <a:prstGeom prst="ellipse">
            <a:avLst/>
          </a:prstGeom>
          <a:solidFill>
            <a:srgbClr val="FB7185"/>
          </a:solidFill>
          <a:ln w="15240">
            <a:solidFill>
              <a:srgbClr val="FB718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53712" y="435254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Polimorfismo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784848" y="435254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 las diferencias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03320" y="5394960"/>
            <a:ext cx="6080760" cy="530352"/>
          </a:xfrm>
          <a:prstGeom prst="roundRect">
            <a:avLst>
              <a:gd name="adj" fmla="val 24138"/>
            </a:avLst>
          </a:prstGeom>
          <a:solidFill>
            <a:srgbClr val="E8F8F5"/>
          </a:solidFill>
          <a:ln w="15240">
            <a:solidFill>
              <a:srgbClr val="B7E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13632" y="5559552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· asignación · consulta · tratamiento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fase 2 · simulador de sistema hospitalario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Universidad Nacional Autónoma de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Simulador de sistema hospitalario</dc:title>
  <dc:subject>Proyecto fase 2 de POO</dc:subject>
  <dc:creator>Equipo 2</dc:creator>
  <cp:lastModifiedBy>Equipo 2</cp:lastModifiedBy>
  <cp:revision>1</cp:revision>
  <dcterms:created xsi:type="dcterms:W3CDTF">2026-10-24T18:04:49Z</dcterms:created>
  <dcterms:modified xsi:type="dcterms:W3CDTF">2026-10-24T18:04:49Z</dcterms:modified>
</cp:coreProperties>
</file>